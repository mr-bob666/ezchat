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  <Relationship Id="rId14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大家好，我介绍的是数据结构课程实践项目 ezChat。这个项目不是只做一个能输入文字的消息框，而是尝试把身份、房间、消息、成员治理和语音通话组织成完整系统。整套构建可以先记住一句话：一间聊天室，用三种通信协议配合五张核心数据表，最终形成实时交互闭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先从用户实际会走的路径确定项目范围：注册或登录之后，用户要能创建或加入房间，看到在线状态并实时收发消息，还要处理房主、管理员、禁言等成员治理，最后可以对在线成员发起一对一语音通话。右侧是系统运行界面，登录页是入口，进入后左侧管理房间，中间显示消息，右侧显示成员。由此可以看出，项目重点不是单个聊天组件，而是让身份、房间、治理、消息和语音之间互相衔接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确定功能闭环后，我先把项目拆成客户端和服务端两个目录，并在各自内部继续分层。前端使用 Vue 三负责界面组件和交互，Pinia 维护页面状态；后端使用 Express，把业务按路由、服务和模型组织，并统一校验权限和规则；数据最终通过 Sequelize 持久化到 MySQL。普通的登录、房间操作和历史记录适合通过 HTTP 请求完成，消息广播、在线状态和通话信令交给 Socket.IO 长连接，而语音媒体由 WebRTC 在浏览器之间点对点传输，服务端只负责交换 offer、answer 和 ICE。这样，分层回答了谁负责什么，协议分工回答了信息怎样流动。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接下来是课程知识真正落地的部分。服务端用 Map 保存用户编号到 Socket 连接编号的映射，定向推送时可以直接定位在线用户，平均是常数时间查询，不需要遍历全部连接。数据库用 User、Room、RoomMember、RoomBan 和 Message 五张表表达用户、房间、成员角色、黑名单与消息的归属关系，其中 RoomMember 是连接用户和房间的关键。语音通话则用有限状态机约束界面，从空闲、呼叫、连接中到已连接，拒接、挂断或断连后统一清理并回到空闲状态。简单概括就是：Map 管定位，关系模型管归属，状态机管变化。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发送消息时，客户端先从输入组件提交内容，再通过 Socket.IO 发出 message send 事件。服务端收到后不会立即广播，而是先检查发送者是不是房间成员，以及当前是否被禁言；任何一项不通过都直接拒绝。校验通过后，消息先写入 Message 表保留记录，再按房间广播 message new 事件。前端收到事件后把新消息追加到 store，MessageList 随响应式状态刷新。这个流程最重要的顺序是先校验、再落库、后广播，让客户端体验和服务端规则同时成立。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语音功能的运行界面包含接听、静音、计时和挂断，但背后的构建分成两条链路。呼叫方创建 offer，被叫方创建 answer，双方还要交换 ICE 信息，这些控制信令都由 Socket.IO 经服务端定向转发；真正的音频则由 WebRTC 在两个浏览器之间点对点传输。界面继续沿用状态机，从空闲进入呼叫、连接中和已连接，挂断或断连时执行清理，让双方都恢复为空闲。这里的关键取舍是 Socket.IO 负责协调，WebRTC 负责传输。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终演示会按照登录、加入房间、发送消息、管理成员和发起语音通话的顺序走一遍，验证各模块确实组成闭环。回顾构建过程，我采用的思路是先划分前端、后端和数据库的职责，再根据请求、实时事件和媒体流选择合适协议，最后用 Map、关系模型和有限状态机收束连接、关系与状态。ezChat 从一个消息框出发，最后成为一个可演示、可解释、也便于继续扩展的实时聊天系统。谢谢大家。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ezchat_course_intr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ezchat_course_intr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b868480ffeeb36b.png"/>
  <Relationship Id="rId3" Type="http://schemas.openxmlformats.org/officeDocument/2006/relationships/image" Target="../media/image_36098a9fc28a191c.pn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d40198e9e4bca0d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8861b5e18f487b1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847725" y="647700"/>
            <a:ext cx="10629900" cy="5676900"/>
            <a:chOff x="847725" y="647700"/>
            <a:chExt cx="10629900" cy="5676900"/>
          </a:xfrm>
        </p:grpSpPr>
        <p:sp>
          <p:nvSpPr>
            <p:cNvPr id="2" name="Ellipse 2"/>
            <p:cNvSpPr/>
            <p:nvPr/>
          </p:nvSpPr>
          <p:spPr>
            <a:xfrm>
              <a:off x="847725" y="752475"/>
              <a:ext cx="57150" cy="57150"/>
            </a:xfrm>
            <a:prstGeom prst="ellipse">
              <a:avLst/>
            </a:prstGeom>
            <a:solidFill>
              <a:schemeClr val="accent6">
                <a:alpha val="38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104900" y="866775"/>
              <a:ext cx="38100" cy="38100"/>
            </a:xfrm>
            <a:prstGeom prst="ellipse">
              <a:avLst/>
            </a:prstGeom>
            <a:solidFill>
              <a:schemeClr val="accent6">
                <a:alpha val="38000"/>
              </a:scheme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1420475" y="809625"/>
              <a:ext cx="57150" cy="57150"/>
            </a:xfrm>
            <a:prstGeom prst="ellipse">
              <a:avLst/>
            </a:prstGeom>
            <a:solidFill>
              <a:schemeClr val="accent6">
                <a:alpha val="38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1106150" y="6096000"/>
              <a:ext cx="38100" cy="38100"/>
            </a:xfrm>
            <a:prstGeom prst="ellipse">
              <a:avLst/>
            </a:prstGeom>
            <a:solidFill>
              <a:schemeClr val="accent6">
                <a:alpha val="38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715625" y="6267450"/>
              <a:ext cx="57150" cy="57150"/>
            </a:xfrm>
            <a:prstGeom prst="ellipse">
              <a:avLst/>
            </a:prstGeom>
            <a:solidFill>
              <a:schemeClr val="accent6">
                <a:alpha val="38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6477000" y="647700"/>
              <a:ext cx="38100" cy="38100"/>
            </a:xfrm>
            <a:prstGeom prst="ellipse">
              <a:avLst/>
            </a:prstGeom>
            <a:solidFill>
              <a:schemeClr val="accent6">
                <a:alpha val="38000"/>
              </a:scheme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04850" y="1007745"/>
            <a:ext cx="5244179" cy="2502789"/>
            <a:chOff x="704850" y="1007745"/>
            <a:chExt cx="5244179" cy="2502789"/>
          </a:xfrm>
        </p:grpSpPr>
        <p:sp>
          <p:nvSpPr>
            <p:cNvPr id="9" name="TextBox 9"/>
            <p:cNvSpPr txBox="1"/>
            <p:nvPr/>
          </p:nvSpPr>
          <p:spPr>
            <a:xfrm>
              <a:off x="704850" y="1007745"/>
              <a:ext cx="4726114" cy="1419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175"/>
                </a:lnSpc>
              </a:pPr>
              <a:r>
                <a:rPr lang="zh-CN" sz="39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ezChat：从数据结构</a:t>
              </a:r>
              <a:br/>
              <a:r>
                <a:rPr lang="zh-CN" sz="39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到实时聊天系统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742950" y="2279650"/>
              <a:ext cx="3581400" cy="73025"/>
            </a:xfrm>
            <a:custGeom>
              <a:avLst/>
              <a:gdLst/>
              <a:ahLst/>
              <a:cxnLst/>
              <a:rect l="l" t="t" r="r" b="b"/>
              <a:pathLst>
                <a:path w="3581400" h="73025">
                  <a:moveTo>
                    <a:pt x="0" y="63500"/>
                  </a:moveTo>
                  <a:cubicBezTo>
                    <a:pt x="1193800" y="0"/>
                    <a:pt x="2387600" y="3175"/>
                    <a:pt x="3581400" y="73025"/>
                  </a:cubicBezTo>
                </a:path>
              </a:pathLst>
            </a:custGeom>
            <a:noFill/>
            <a:ln w="66675" cap="rnd">
              <a:solidFill>
                <a:schemeClr val="accent2">
                  <a:alpha val="72000"/>
                </a:schemeClr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1520" y="2614612"/>
              <a:ext cx="521750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数据结构课程实践 · 项目构建思路介绍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3806" y="3158490"/>
              <a:ext cx="28049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谢模彦 · 软件工程 · 2026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296150" y="1143000"/>
            <a:ext cx="3962400" cy="2743200"/>
            <a:chOff x="7296150" y="1143000"/>
            <a:chExt cx="3962400" cy="2743200"/>
          </a:xfrm>
        </p:grpSpPr>
        <p:sp>
          <p:nvSpPr>
            <p:cNvPr id="14" name="Freeform 14"/>
            <p:cNvSpPr/>
            <p:nvPr/>
          </p:nvSpPr>
          <p:spPr>
            <a:xfrm>
              <a:off x="8401050" y="1612900"/>
              <a:ext cx="1600200" cy="635000"/>
            </a:xfrm>
            <a:custGeom>
              <a:avLst/>
              <a:gdLst/>
              <a:ahLst/>
              <a:cxnLst/>
              <a:rect l="l" t="t" r="r" b="b"/>
              <a:pathLst>
                <a:path w="1600200" h="635000">
                  <a:moveTo>
                    <a:pt x="0" y="635000"/>
                  </a:moveTo>
                  <a:cubicBezTo>
                    <a:pt x="482600" y="88900"/>
                    <a:pt x="1016000" y="0"/>
                    <a:pt x="1600200" y="36830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5" name="Freeform 15"/>
            <p:cNvSpPr/>
            <p:nvPr/>
          </p:nvSpPr>
          <p:spPr>
            <a:xfrm>
              <a:off x="10058400" y="2247900"/>
              <a:ext cx="517525" cy="1123950"/>
            </a:xfrm>
            <a:custGeom>
              <a:avLst/>
              <a:gdLst/>
              <a:ahLst/>
              <a:cxnLst/>
              <a:rect l="l" t="t" r="r" b="b"/>
              <a:pathLst>
                <a:path w="517525" h="1123950">
                  <a:moveTo>
                    <a:pt x="0" y="0"/>
                  </a:moveTo>
                  <a:cubicBezTo>
                    <a:pt x="457200" y="342900"/>
                    <a:pt x="517525" y="717550"/>
                    <a:pt x="180975" y="112395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6" name="Freeform 16"/>
            <p:cNvSpPr/>
            <p:nvPr/>
          </p:nvSpPr>
          <p:spPr>
            <a:xfrm>
              <a:off x="8039100" y="3143250"/>
              <a:ext cx="1771650" cy="692150"/>
            </a:xfrm>
            <a:custGeom>
              <a:avLst/>
              <a:gdLst/>
              <a:ahLst/>
              <a:cxnLst/>
              <a:rect l="l" t="t" r="r" b="b"/>
              <a:pathLst>
                <a:path w="1771650" h="692150">
                  <a:moveTo>
                    <a:pt x="1771650" y="361950"/>
                  </a:moveTo>
                  <a:cubicBezTo>
                    <a:pt x="1060450" y="692150"/>
                    <a:pt x="469900" y="571500"/>
                    <a:pt x="0" y="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7" name="Ellipse 17"/>
            <p:cNvSpPr/>
            <p:nvPr/>
          </p:nvSpPr>
          <p:spPr>
            <a:xfrm>
              <a:off x="8210550" y="1981200"/>
              <a:ext cx="1447800" cy="14478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648014" y="2454354"/>
              <a:ext cx="570471" cy="505692"/>
            </a:xfrm>
            <a:custGeom>
              <a:avLst/>
              <a:gdLst/>
              <a:ahLst/>
              <a:cxnLst/>
              <a:rect l="l" t="t" r="r" b="b"/>
              <a:pathLst>
                <a:path w="570471" h="505692">
                  <a:moveTo>
                    <a:pt x="29261" y="479346"/>
                  </a:moveTo>
                  <a:lnTo>
                    <a:pt x="66408" y="367903"/>
                  </a:lnTo>
                  <a:cubicBezTo>
                    <a:pt x="0" y="269691"/>
                    <a:pt x="25660" y="142961"/>
                    <a:pt x="126416" y="71466"/>
                  </a:cubicBezTo>
                  <a:cubicBezTo>
                    <a:pt x="227171" y="0"/>
                    <a:pt x="371875" y="5858"/>
                    <a:pt x="464887" y="85182"/>
                  </a:cubicBezTo>
                  <a:cubicBezTo>
                    <a:pt x="557898" y="164535"/>
                    <a:pt x="570471" y="292808"/>
                    <a:pt x="494290" y="385248"/>
                  </a:cubicBezTo>
                  <a:cubicBezTo>
                    <a:pt x="418109" y="477688"/>
                    <a:pt x="276692" y="505692"/>
                    <a:pt x="163563" y="450771"/>
                  </a:cubicBezTo>
                  <a:lnTo>
                    <a:pt x="29261" y="479346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9801225" y="1143000"/>
              <a:ext cx="1028700" cy="10287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024796" y="1529715"/>
              <a:ext cx="5815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HTTP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10077450" y="2647950"/>
              <a:ext cx="1181100" cy="11811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03865" y="3003232"/>
              <a:ext cx="11282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Socket.IO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97668" y="33023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实时事件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296150" y="2781300"/>
              <a:ext cx="1104900" cy="11049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436834" y="3098482"/>
              <a:ext cx="8235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WebRTC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62495" y="3397568"/>
              <a:ext cx="772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P2P 音频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742950" y="4533900"/>
            <a:ext cx="4953000" cy="876300"/>
          </a:xfrm>
          <a:prstGeom prst="ribbon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30" name="Group 30"/>
          <p:cNvGrpSpPr/>
          <p:nvPr/>
        </p:nvGrpSpPr>
        <p:grpSpPr>
          <a:xfrm>
            <a:off x="1024904" y="4795838"/>
            <a:ext cx="4389091" cy="440055"/>
            <a:chOff x="1024904" y="4795838"/>
            <a:chExt cx="4389091" cy="440055"/>
          </a:xfrm>
        </p:grpSpPr>
        <p:sp>
          <p:nvSpPr>
            <p:cNvPr id="29" name="TextBox 29"/>
            <p:cNvSpPr txBox="1"/>
            <p:nvPr/>
          </p:nvSpPr>
          <p:spPr>
            <a:xfrm>
              <a:off x="1024904" y="4795838"/>
              <a:ext cx="43890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一间聊天室 · 三种协议 · 五张表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6153150"/>
            <a:ext cx="10978896" cy="333756"/>
            <a:chOff x="609600" y="6153150"/>
            <a:chExt cx="10978896" cy="333756"/>
          </a:xfrm>
        </p:grpSpPr>
        <p:sp>
          <p:nvSpPr>
            <p:cNvPr id="31" name="Line 31"/>
            <p:cNvSpPr/>
            <p:nvPr/>
          </p:nvSpPr>
          <p:spPr>
            <a:xfrm>
              <a:off x="609600" y="6153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398606" y="62522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800100" y="609600"/>
            <a:ext cx="10801350" cy="5715000"/>
            <a:chOff x="800100" y="609600"/>
            <a:chExt cx="10801350" cy="5715000"/>
          </a:xfrm>
        </p:grpSpPr>
        <p:sp>
          <p:nvSpPr>
            <p:cNvPr id="2" name="Freeform 2"/>
            <p:cNvSpPr/>
            <p:nvPr/>
          </p:nvSpPr>
          <p:spPr>
            <a:xfrm>
              <a:off x="11239500" y="609600"/>
              <a:ext cx="323850" cy="171450"/>
            </a:xfrm>
            <a:custGeom>
              <a:avLst/>
              <a:gdLst/>
              <a:ahLst/>
              <a:cxnLst/>
              <a:rect l="l" t="t" r="r" b="b"/>
              <a:pathLst>
                <a:path w="323850" h="171450">
                  <a:moveTo>
                    <a:pt x="0" y="114300"/>
                  </a:moveTo>
                  <a:cubicBezTo>
                    <a:pt x="139700" y="0"/>
                    <a:pt x="247650" y="19050"/>
                    <a:pt x="323850" y="171450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3" name="Freeform 3"/>
            <p:cNvSpPr/>
            <p:nvPr/>
          </p:nvSpPr>
          <p:spPr>
            <a:xfrm>
              <a:off x="11163300" y="838200"/>
              <a:ext cx="438150" cy="111125"/>
            </a:xfrm>
            <a:custGeom>
              <a:avLst/>
              <a:gdLst/>
              <a:ahLst/>
              <a:cxnLst/>
              <a:rect l="l" t="t" r="r" b="b"/>
              <a:pathLst>
                <a:path w="438150" h="111125">
                  <a:moveTo>
                    <a:pt x="0" y="0"/>
                  </a:moveTo>
                  <a:cubicBezTo>
                    <a:pt x="165100" y="101600"/>
                    <a:pt x="311150" y="111125"/>
                    <a:pt x="438150" y="28575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800100" y="6172200"/>
              <a:ext cx="152400" cy="152400"/>
            </a:xfrm>
            <a:prstGeom prst="ellipse">
              <a:avLst/>
            </a:pr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066800" y="6210300"/>
              <a:ext cx="76200" cy="76200"/>
            </a:xfrm>
            <a:prstGeom prst="ellipse">
              <a:avLst/>
            </a:prstGeom>
            <a:noFill/>
            <a:ln w="19050" cap="rnd">
              <a:solidFill>
                <a:schemeClr val="accent6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455295"/>
            <a:ext cx="8913876" cy="762000"/>
            <a:chOff x="590550" y="455295"/>
            <a:chExt cx="8913876" cy="762000"/>
          </a:xfrm>
        </p:grpSpPr>
        <p:sp>
          <p:nvSpPr>
            <p:cNvPr id="7" name="TextBox 7"/>
            <p:cNvSpPr txBox="1"/>
            <p:nvPr/>
          </p:nvSpPr>
          <p:spPr>
            <a:xfrm>
              <a:off x="590550" y="455295"/>
              <a:ext cx="891387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一个可用的聊天室，要闭环哪些事？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628650" y="1054100"/>
              <a:ext cx="3371850" cy="60325"/>
            </a:xfrm>
            <a:custGeom>
              <a:avLst/>
              <a:gdLst/>
              <a:ahLst/>
              <a:cxnLst/>
              <a:rect l="l" t="t" r="r" b="b"/>
              <a:pathLst>
                <a:path w="3371850" h="60325">
                  <a:moveTo>
                    <a:pt x="0" y="50800"/>
                  </a:moveTo>
                  <a:cubicBezTo>
                    <a:pt x="1155700" y="0"/>
                    <a:pt x="2279650" y="3175"/>
                    <a:pt x="3371850" y="60325"/>
                  </a:cubicBezTo>
                </a:path>
              </a:pathLst>
            </a:custGeom>
            <a:noFill/>
            <a:ln w="57150" cap="rnd">
              <a:solidFill>
                <a:schemeClr val="accent2">
                  <a:alpha val="68000"/>
                </a:schemeClr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38556" y="1615440"/>
            <a:ext cx="3680079" cy="3870960"/>
            <a:chOff x="638556" y="1615440"/>
            <a:chExt cx="3680079" cy="3870960"/>
          </a:xfrm>
        </p:grpSpPr>
        <p:sp>
          <p:nvSpPr>
            <p:cNvPr id="10" name="TextBox 10"/>
            <p:cNvSpPr txBox="1"/>
            <p:nvPr/>
          </p:nvSpPr>
          <p:spPr>
            <a:xfrm>
              <a:off x="638556" y="16154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用户路径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933450" y="2095500"/>
              <a:ext cx="266700" cy="3124200"/>
            </a:xfrm>
            <a:custGeom>
              <a:avLst/>
              <a:gdLst/>
              <a:ahLst/>
              <a:cxnLst/>
              <a:rect l="l" t="t" r="r" b="b"/>
              <a:pathLst>
                <a:path w="266700" h="3124200">
                  <a:moveTo>
                    <a:pt x="133350" y="0"/>
                  </a:moveTo>
                  <a:cubicBezTo>
                    <a:pt x="0" y="368300"/>
                    <a:pt x="0" y="723900"/>
                    <a:pt x="133350" y="1066800"/>
                  </a:cubicBezTo>
                  <a:cubicBezTo>
                    <a:pt x="266700" y="1409700"/>
                    <a:pt x="266700" y="1765300"/>
                    <a:pt x="133350" y="2133600"/>
                  </a:cubicBezTo>
                  <a:cubicBezTo>
                    <a:pt x="0" y="2501900"/>
                    <a:pt x="0" y="2832100"/>
                    <a:pt x="133350" y="312420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81050" y="1866900"/>
              <a:ext cx="2371439" cy="571500"/>
              <a:chOff x="781050" y="1866900"/>
              <a:chExt cx="2371439" cy="571500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781050" y="1866900"/>
                <a:ext cx="571500" cy="57150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938212" y="2024062"/>
                <a:ext cx="257175" cy="257176"/>
                <a:chOff x="938212" y="2024062"/>
                <a:chExt cx="257175" cy="257176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966788" y="2024062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57150"/>
                      </a:moveTo>
                      <a:cubicBezTo>
                        <a:pt x="0" y="88713"/>
                        <a:pt x="25587" y="114300"/>
                        <a:pt x="57150" y="114300"/>
                      </a:cubicBezTo>
                      <a:cubicBezTo>
                        <a:pt x="88713" y="114300"/>
                        <a:pt x="114300" y="88713"/>
                        <a:pt x="114300" y="57150"/>
                      </a:cubicBezTo>
                      <a:cubicBezTo>
                        <a:pt x="114300" y="25587"/>
                        <a:pt x="88713" y="0"/>
                        <a:pt x="57150" y="0"/>
                      </a:cubicBezTo>
                      <a:cubicBezTo>
                        <a:pt x="25587" y="0"/>
                        <a:pt x="0" y="25587"/>
                        <a:pt x="0" y="571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938212" y="2195512"/>
                  <a:ext cx="17145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85725">
                      <a:moveTo>
                        <a:pt x="0" y="85725"/>
                      </a:move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lnTo>
                        <a:pt x="114300" y="0"/>
                      </a:lnTo>
                      <a:cubicBezTo>
                        <a:pt x="145863" y="0"/>
                        <a:pt x="171450" y="25587"/>
                        <a:pt x="171450" y="57150"/>
                      </a:cubicBezTo>
                      <a:lnTo>
                        <a:pt x="171450" y="85725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123950" y="2025920"/>
                  <a:ext cx="42975" cy="110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75" h="110728">
                      <a:moveTo>
                        <a:pt x="0" y="0"/>
                      </a:moveTo>
                      <a:cubicBezTo>
                        <a:pt x="25288" y="6475"/>
                        <a:pt x="42975" y="29261"/>
                        <a:pt x="42975" y="55364"/>
                      </a:cubicBezTo>
                      <a:cubicBezTo>
                        <a:pt x="42975" y="81467"/>
                        <a:pt x="25288" y="104253"/>
                        <a:pt x="0" y="11072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152525" y="2197656"/>
                  <a:ext cx="42862" cy="83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83582">
                      <a:moveTo>
                        <a:pt x="42862" y="83582"/>
                      </a:moveTo>
                      <a:lnTo>
                        <a:pt x="42862" y="55007"/>
                      </a:lnTo>
                      <a:cubicBezTo>
                        <a:pt x="42713" y="29069"/>
                        <a:pt x="25115" y="6484"/>
                        <a:pt x="0" y="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569720" y="1995488"/>
                <a:ext cx="1582769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注册 / 登录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781050" y="2628900"/>
              <a:ext cx="2977229" cy="571500"/>
              <a:chOff x="781050" y="2628900"/>
              <a:chExt cx="2977229" cy="571500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781050" y="2628900"/>
                <a:ext cx="571500" cy="57150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938212" y="2786062"/>
                <a:ext cx="257176" cy="257176"/>
                <a:chOff x="938212" y="2786062"/>
                <a:chExt cx="257176" cy="257176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938212" y="298608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138238" y="2786062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28575" y="57150"/>
                      </a:move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  <a:cubicBezTo>
                        <a:pt x="0" y="44357"/>
                        <a:pt x="12793" y="57150"/>
                        <a:pt x="28575" y="571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966788" y="2814638"/>
                  <a:ext cx="214312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00025">
                      <a:moveTo>
                        <a:pt x="85725" y="200025"/>
                      </a:moveTo>
                      <a:lnTo>
                        <a:pt x="164306" y="200025"/>
                      </a:lnTo>
                      <a:cubicBezTo>
                        <a:pt x="191924" y="200025"/>
                        <a:pt x="214312" y="177636"/>
                        <a:pt x="214312" y="150019"/>
                      </a:cubicBezTo>
                      <a:cubicBezTo>
                        <a:pt x="214312" y="122401"/>
                        <a:pt x="191924" y="100012"/>
                        <a:pt x="164306" y="100012"/>
                      </a:cubicBezTo>
                      <a:lnTo>
                        <a:pt x="50006" y="100012"/>
                      </a:lnTo>
                      <a:cubicBezTo>
                        <a:pt x="22389" y="100012"/>
                        <a:pt x="0" y="77624"/>
                        <a:pt x="0" y="50006"/>
                      </a:cubicBezTo>
                      <a:cubicBezTo>
                        <a:pt x="0" y="22389"/>
                        <a:pt x="22389" y="0"/>
                        <a:pt x="50006" y="0"/>
                      </a:cubicBezTo>
                      <a:lnTo>
                        <a:pt x="11430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1569720" y="2757488"/>
                <a:ext cx="2188559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创建 / 加入房间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81050" y="3390900"/>
              <a:ext cx="3537585" cy="571500"/>
              <a:chOff x="781050" y="3390900"/>
              <a:chExt cx="3537585" cy="571500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81050" y="3390900"/>
                <a:ext cx="571500" cy="57150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923582" y="3551277"/>
                <a:ext cx="285236" cy="252846"/>
              </a:xfrm>
              <a:custGeom>
                <a:avLst/>
                <a:gdLst/>
                <a:ahLst/>
                <a:cxnLst/>
                <a:rect l="l" t="t" r="r" b="b"/>
                <a:pathLst>
                  <a:path w="285236" h="252846">
                    <a:moveTo>
                      <a:pt x="14630" y="239673"/>
                    </a:moveTo>
                    <a:lnTo>
                      <a:pt x="33204" y="183952"/>
                    </a:lnTo>
                    <a:cubicBezTo>
                      <a:pt x="0" y="134845"/>
                      <a:pt x="12830" y="71480"/>
                      <a:pt x="63208" y="35733"/>
                    </a:cubicBezTo>
                    <a:cubicBezTo>
                      <a:pt x="113586" y="0"/>
                      <a:pt x="185938" y="2929"/>
                      <a:pt x="232443" y="42591"/>
                    </a:cubicBezTo>
                    <a:cubicBezTo>
                      <a:pt x="278949" y="82267"/>
                      <a:pt x="285236" y="146404"/>
                      <a:pt x="247145" y="192624"/>
                    </a:cubicBezTo>
                    <a:cubicBezTo>
                      <a:pt x="209055" y="238844"/>
                      <a:pt x="138346" y="252846"/>
                      <a:pt x="81782" y="225385"/>
                    </a:cubicBezTo>
                    <a:lnTo>
                      <a:pt x="14630" y="23967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569720" y="3519488"/>
                <a:ext cx="2748915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实时消息与在线状态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781050" y="4152900"/>
              <a:ext cx="2931795" cy="571500"/>
              <a:chOff x="781050" y="4152900"/>
              <a:chExt cx="2931795" cy="571500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781050" y="4152900"/>
                <a:ext cx="571500" cy="571500"/>
              </a:xfrm>
              <a:prstGeom prst="ellipse">
                <a:avLst/>
              </a:prstGeom>
              <a:solidFill>
                <a:schemeClr val="lt2"/>
              </a:solidFill>
              <a:ln w="38100">
                <a:solidFill>
                  <a:schemeClr val="accent3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932263" y="4310062"/>
                <a:ext cx="269075" cy="257175"/>
                <a:chOff x="932263" y="4310062"/>
                <a:chExt cx="269075" cy="257175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932263" y="4310062"/>
                  <a:ext cx="26907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075" h="257175">
                      <a:moveTo>
                        <a:pt x="134537" y="0"/>
                      </a:moveTo>
                      <a:cubicBezTo>
                        <a:pt x="167911" y="29526"/>
                        <a:pt x="211468" y="44899"/>
                        <a:pt x="255981" y="42862"/>
                      </a:cubicBezTo>
                      <a:cubicBezTo>
                        <a:pt x="269075" y="87404"/>
                        <a:pt x="263545" y="135352"/>
                        <a:pt x="240656" y="175744"/>
                      </a:cubicBezTo>
                      <a:cubicBezTo>
                        <a:pt x="217768" y="216136"/>
                        <a:pt x="179477" y="245519"/>
                        <a:pt x="134537" y="257175"/>
                      </a:cubicBezTo>
                      <a:cubicBezTo>
                        <a:pt x="89598" y="245519"/>
                        <a:pt x="51307" y="216136"/>
                        <a:pt x="28418" y="175744"/>
                      </a:cubicBezTo>
                      <a:cubicBezTo>
                        <a:pt x="5530" y="135352"/>
                        <a:pt x="0" y="87404"/>
                        <a:pt x="13094" y="42862"/>
                      </a:cubicBezTo>
                      <a:cubicBezTo>
                        <a:pt x="57607" y="44899"/>
                        <a:pt x="101164" y="29526"/>
                        <a:pt x="134537" y="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052512" y="4410075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0" y="14288"/>
                      </a:moveTo>
                      <a:cubicBezTo>
                        <a:pt x="0" y="22178"/>
                        <a:pt x="6397" y="28575"/>
                        <a:pt x="14288" y="28575"/>
                      </a:cubicBezTo>
                      <a:cubicBezTo>
                        <a:pt x="22178" y="28575"/>
                        <a:pt x="28575" y="22178"/>
                        <a:pt x="28575" y="14288"/>
                      </a:cubicBezTo>
                      <a:cubicBezTo>
                        <a:pt x="28575" y="6397"/>
                        <a:pt x="22178" y="0"/>
                        <a:pt x="14288" y="0"/>
                      </a:cubicBezTo>
                      <a:cubicBezTo>
                        <a:pt x="6397" y="0"/>
                        <a:pt x="0" y="6397"/>
                        <a:pt x="0" y="1428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066800" y="4438650"/>
                  <a:ext cx="9525" cy="35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5719">
                      <a:moveTo>
                        <a:pt x="0" y="0"/>
                      </a:moveTo>
                      <a:lnTo>
                        <a:pt x="0" y="35719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1569720" y="4281488"/>
                <a:ext cx="2143125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角色与成员治理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1050" y="4914900"/>
              <a:ext cx="2931795" cy="571500"/>
              <a:chOff x="781050" y="4914900"/>
              <a:chExt cx="2931795" cy="571500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781050" y="4914900"/>
                <a:ext cx="571500" cy="571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38212" y="5086350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28575" y="0"/>
                    </a:moveTo>
                    <a:lnTo>
                      <a:pt x="85725" y="0"/>
                    </a:lnTo>
                    <a:lnTo>
                      <a:pt x="114300" y="71438"/>
                    </a:lnTo>
                    <a:lnTo>
                      <a:pt x="78581" y="92869"/>
                    </a:lnTo>
                    <a:cubicBezTo>
                      <a:pt x="93883" y="123894"/>
                      <a:pt x="118993" y="149005"/>
                      <a:pt x="150019" y="164306"/>
                    </a:cubicBezTo>
                    <a:lnTo>
                      <a:pt x="171450" y="128588"/>
                    </a:lnTo>
                    <a:lnTo>
                      <a:pt x="242888" y="157162"/>
                    </a:lnTo>
                    <a:lnTo>
                      <a:pt x="242888" y="214312"/>
                    </a:lnTo>
                    <a:cubicBezTo>
                      <a:pt x="242888" y="230094"/>
                      <a:pt x="230094" y="242888"/>
                      <a:pt x="214312" y="242888"/>
                    </a:cubicBezTo>
                    <a:cubicBezTo>
                      <a:pt x="98979" y="235879"/>
                      <a:pt x="7009" y="143909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</a:path>
                </a:pathLst>
              </a:custGeom>
              <a:noFill/>
              <a:ln w="28575">
                <a:solidFill>
                  <a:srgbClr val="FFF9EE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569720" y="5043488"/>
                <a:ext cx="2143125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一对一语音通话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5029200" y="1447800"/>
            <a:ext cx="6400800" cy="4186809"/>
            <a:chOff x="5029200" y="1447800"/>
            <a:chExt cx="6400800" cy="4186809"/>
          </a:xfrm>
        </p:grpSpPr>
        <p:sp>
          <p:nvSpPr>
            <p:cNvPr id="43" name="Rectangle 43"/>
            <p:cNvSpPr/>
            <p:nvPr/>
          </p:nvSpPr>
          <p:spPr>
            <a:xfrm>
              <a:off x="5753100" y="1581150"/>
              <a:ext cx="5676900" cy="3981450"/>
            </a:xfrm>
            <a:prstGeom prst="roundRect">
              <a:avLst>
                <a:gd name="adj" fmla="val 4306"/>
              </a:avLst>
            </a:prstGeom>
            <a:solidFill>
              <a:schemeClr val="lt2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75880" y="1695450"/>
              <a:ext cx="5431340" cy="3810000"/>
            </a:xfrm>
            <a:prstGeom prst="rect">
              <a:avLst/>
            </a:prstGeom>
          </p:spPr>
        </p:pic>
        <p:sp>
          <p:nvSpPr>
            <p:cNvPr id="45" name="Rectangle 45"/>
            <p:cNvSpPr/>
            <p:nvPr/>
          </p:nvSpPr>
          <p:spPr>
            <a:xfrm>
              <a:off x="5029200" y="3638550"/>
              <a:ext cx="2609850" cy="1866900"/>
            </a:xfrm>
            <a:prstGeom prst="roundRect">
              <a:avLst>
                <a:gd name="adj" fmla="val 9184"/>
              </a:avLst>
            </a:prstGeom>
            <a:solidFill>
              <a:schemeClr val="lt1"/>
            </a:solidFill>
            <a:ln w="38100">
              <a:solidFill>
                <a:schemeClr val="accent2"/>
              </a:solidFill>
            </a:ln>
          </p:spPr>
        </p:sp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43500" y="3752850"/>
              <a:ext cx="2381250" cy="1628775"/>
            </a:xfrm>
            <a:prstGeom prst="rect">
              <a:avLst/>
            </a:prstGeom>
          </p:spPr>
        </p:pic>
        <p:sp>
          <p:nvSpPr>
            <p:cNvPr id="47" name="Freeform 47"/>
            <p:cNvSpPr/>
            <p:nvPr/>
          </p:nvSpPr>
          <p:spPr>
            <a:xfrm>
              <a:off x="5200650" y="3378200"/>
              <a:ext cx="990600" cy="184150"/>
            </a:xfrm>
            <a:custGeom>
              <a:avLst/>
              <a:gdLst/>
              <a:ahLst/>
              <a:cxnLst/>
              <a:rect l="l" t="t" r="r" b="b"/>
              <a:pathLst>
                <a:path w="990600" h="184150">
                  <a:moveTo>
                    <a:pt x="0" y="184150"/>
                  </a:moveTo>
                  <a:cubicBezTo>
                    <a:pt x="279400" y="44450"/>
                    <a:pt x="609600" y="0"/>
                    <a:pt x="990600" y="5080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115306" y="32918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入口</a:t>
              </a: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7848600" y="1447800"/>
              <a:ext cx="3567456" cy="4186809"/>
              <a:chOff x="7848600" y="1447800"/>
              <a:chExt cx="3567456" cy="4186809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7848600" y="1447800"/>
                <a:ext cx="1314450" cy="381000"/>
              </a:xfrm>
              <a:prstGeom prst="roundRect">
                <a:avLst>
                  <a:gd name="adj" fmla="val 45000"/>
                </a:avLst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890891" y="15201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聊天工作台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9563100" y="5219700"/>
                <a:ext cx="1676400" cy="361950"/>
              </a:xfrm>
              <a:prstGeom prst="roundRect">
                <a:avLst>
                  <a:gd name="adj" fmla="val 47368"/>
                </a:avLst>
              </a:prstGeom>
              <a:solidFill>
                <a:schemeClr val="accent3">
                  <a:alpha val="84000"/>
                </a:schemeClr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386545" y="5282565"/>
                <a:ext cx="20295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房间 · 消息 · 成员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609600" y="5810250"/>
            <a:ext cx="10972800" cy="526923"/>
            <a:chOff x="609600" y="5810250"/>
            <a:chExt cx="10972800" cy="526923"/>
          </a:xfrm>
        </p:grpSpPr>
        <p:sp>
          <p:nvSpPr>
            <p:cNvPr id="55" name="Rectangle 55"/>
            <p:cNvSpPr/>
            <p:nvPr/>
          </p:nvSpPr>
          <p:spPr>
            <a:xfrm>
              <a:off x="609600" y="5810250"/>
              <a:ext cx="1097280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27532" y="5926455"/>
              <a:ext cx="96332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项目重点不是一个消息框，而是</a:t>
              </a:r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让身份、房间、治理、消息和语音连成闭环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58" name="TextBox 58"/>
            <p:cNvSpPr txBox="1"/>
            <p:nvPr/>
          </p:nvSpPr>
          <p:spPr>
            <a:xfrm>
              <a:off x="603504" y="6480810"/>
              <a:ext cx="1164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PROJECT GOAL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398606" y="64808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800100" y="476250"/>
            <a:ext cx="10687050" cy="5848350"/>
            <a:chOff x="800100" y="476250"/>
            <a:chExt cx="10687050" cy="5848350"/>
          </a:xfrm>
        </p:grpSpPr>
        <p:sp>
          <p:nvSpPr>
            <p:cNvPr id="2" name="Freeform 2"/>
            <p:cNvSpPr/>
            <p:nvPr/>
          </p:nvSpPr>
          <p:spPr>
            <a:xfrm>
              <a:off x="11144250" y="571500"/>
              <a:ext cx="342900" cy="228600"/>
            </a:xfrm>
            <a:custGeom>
              <a:avLst/>
              <a:gdLst/>
              <a:ahLst/>
              <a:cxnLst/>
              <a:rect l="l" t="t" r="r" b="b"/>
              <a:pathLst>
                <a:path w="342900" h="228600">
                  <a:moveTo>
                    <a:pt x="0" y="114300"/>
                  </a:moveTo>
                  <a:cubicBezTo>
                    <a:pt x="114300" y="0"/>
                    <a:pt x="228600" y="0"/>
                    <a:pt x="342900" y="114300"/>
                  </a:cubicBezTo>
                  <a:cubicBezTo>
                    <a:pt x="228600" y="228600"/>
                    <a:pt x="114300" y="228600"/>
                    <a:pt x="0" y="114300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3" name="Freeform 3"/>
            <p:cNvSpPr/>
            <p:nvPr/>
          </p:nvSpPr>
          <p:spPr>
            <a:xfrm>
              <a:off x="11315700" y="4762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800100" y="6172200"/>
              <a:ext cx="685800" cy="152400"/>
            </a:xfrm>
            <a:custGeom>
              <a:avLst/>
              <a:gdLst/>
              <a:ahLst/>
              <a:cxnLst/>
              <a:rect l="l" t="t" r="r" b="b"/>
              <a:pathLst>
                <a:path w="685800" h="152400">
                  <a:moveTo>
                    <a:pt x="0" y="76200"/>
                  </a:moveTo>
                  <a:cubicBezTo>
                    <a:pt x="114300" y="0"/>
                    <a:pt x="228600" y="0"/>
                    <a:pt x="342900" y="76200"/>
                  </a:cubicBezTo>
                  <a:cubicBezTo>
                    <a:pt x="457200" y="152400"/>
                    <a:pt x="571500" y="152400"/>
                    <a:pt x="685800" y="76200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90550" y="445770"/>
            <a:ext cx="7804404" cy="762000"/>
            <a:chOff x="590550" y="445770"/>
            <a:chExt cx="7804404" cy="762000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445770"/>
              <a:ext cx="780440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构建第一步：先分层，再分协议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628650" y="1038225"/>
              <a:ext cx="3162300" cy="66675"/>
            </a:xfrm>
            <a:custGeom>
              <a:avLst/>
              <a:gdLst/>
              <a:ahLst/>
              <a:cxnLst/>
              <a:rect l="l" t="t" r="r" b="b"/>
              <a:pathLst>
                <a:path w="3162300" h="66675">
                  <a:moveTo>
                    <a:pt x="0" y="57150"/>
                  </a:moveTo>
                  <a:cubicBezTo>
                    <a:pt x="1117600" y="0"/>
                    <a:pt x="2171700" y="3175"/>
                    <a:pt x="3162300" y="66675"/>
                  </a:cubicBezTo>
                </a:path>
              </a:pathLst>
            </a:custGeom>
            <a:noFill/>
            <a:ln w="57150" cap="rnd">
              <a:solidFill>
                <a:schemeClr val="accent2">
                  <a:alpha val="68000"/>
                </a:schemeClr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09600" y="1466850"/>
            <a:ext cx="2933700" cy="4271201"/>
            <a:chOff x="609600" y="1466850"/>
            <a:chExt cx="2933700" cy="4271201"/>
          </a:xfrm>
        </p:grpSpPr>
        <p:sp>
          <p:nvSpPr>
            <p:cNvPr id="9" name="Rectangle 9"/>
            <p:cNvSpPr/>
            <p:nvPr/>
          </p:nvSpPr>
          <p:spPr>
            <a:xfrm>
              <a:off x="609600" y="1466850"/>
              <a:ext cx="2933700" cy="4229100"/>
            </a:xfrm>
            <a:prstGeom prst="roundRect">
              <a:avLst>
                <a:gd name="adj" fmla="val 5844"/>
              </a:avLst>
            </a:prstGeom>
            <a:solidFill>
              <a:schemeClr val="lt2"/>
            </a:solidFill>
            <a:ln w="2857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0956" y="15963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目录就是职责边界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81050" y="1943100"/>
              <a:ext cx="2590800" cy="3524250"/>
            </a:xfrm>
            <a:prstGeom prst="roundRect">
              <a:avLst>
                <a:gd name="adj" fmla="val 4412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0923" y="2057400"/>
              <a:ext cx="2111055" cy="3295650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1020061" y="547401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client / server 各自分层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3962400" y="1619250"/>
            <a:ext cx="7524750" cy="3848100"/>
            <a:chOff x="3962400" y="1619250"/>
            <a:chExt cx="7524750" cy="3848100"/>
          </a:xfrm>
        </p:grpSpPr>
        <p:grpSp>
          <p:nvGrpSpPr>
            <p:cNvPr id="24" name="Group 24"/>
            <p:cNvGrpSpPr/>
            <p:nvPr/>
          </p:nvGrpSpPr>
          <p:grpSpPr>
            <a:xfrm>
              <a:off x="3962400" y="1619250"/>
              <a:ext cx="2419350" cy="1562100"/>
              <a:chOff x="3962400" y="1619250"/>
              <a:chExt cx="2419350" cy="15621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3962400" y="1619250"/>
                <a:ext cx="2419350" cy="1562100"/>
              </a:xfrm>
              <a:prstGeom prst="roundRect">
                <a:avLst>
                  <a:gd name="adj" fmla="val 14634"/>
                </a:avLst>
              </a:prstGeom>
              <a:solidFill>
                <a:schemeClr val="lt2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4221956" y="1897856"/>
                <a:ext cx="300038" cy="300038"/>
                <a:chOff x="4221956" y="1897856"/>
                <a:chExt cx="300038" cy="300038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4255294" y="1897856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66675"/>
                      </a:moveTo>
                      <a:cubicBezTo>
                        <a:pt x="0" y="103499"/>
                        <a:pt x="29851" y="133350"/>
                        <a:pt x="66675" y="133350"/>
                      </a:cubicBezTo>
                      <a:cubicBezTo>
                        <a:pt x="103499" y="133350"/>
                        <a:pt x="133350" y="103499"/>
                        <a:pt x="133350" y="66675"/>
                      </a:cubicBezTo>
                      <a:cubicBezTo>
                        <a:pt x="133350" y="29851"/>
                        <a:pt x="103499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4221956" y="2097881"/>
                  <a:ext cx="2000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00012">
                      <a:moveTo>
                        <a:pt x="0" y="100012"/>
                      </a:moveTo>
                      <a:lnTo>
                        <a:pt x="0" y="66675"/>
                      </a:lnTo>
                      <a:cubicBezTo>
                        <a:pt x="0" y="29851"/>
                        <a:pt x="29851" y="0"/>
                        <a:pt x="66675" y="0"/>
                      </a:cubicBezTo>
                      <a:lnTo>
                        <a:pt x="133350" y="0"/>
                      </a:lnTo>
                      <a:cubicBezTo>
                        <a:pt x="170174" y="0"/>
                        <a:pt x="200025" y="29851"/>
                        <a:pt x="200025" y="66675"/>
                      </a:cubicBezTo>
                      <a:lnTo>
                        <a:pt x="200025" y="100012"/>
                      </a:ln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4438650" y="1900023"/>
                  <a:ext cx="50137" cy="129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37" h="129183">
                      <a:moveTo>
                        <a:pt x="0" y="0"/>
                      </a:moveTo>
                      <a:cubicBezTo>
                        <a:pt x="29502" y="7554"/>
                        <a:pt x="50137" y="34137"/>
                        <a:pt x="50137" y="64591"/>
                      </a:cubicBezTo>
                      <a:cubicBezTo>
                        <a:pt x="50137" y="95045"/>
                        <a:pt x="29502" y="121629"/>
                        <a:pt x="0" y="129183"/>
                      </a:cubicBez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4471988" y="2100382"/>
                  <a:ext cx="50006" cy="975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06" h="97512">
                      <a:moveTo>
                        <a:pt x="50006" y="97512"/>
                      </a:moveTo>
                      <a:lnTo>
                        <a:pt x="50006" y="64175"/>
                      </a:lnTo>
                      <a:cubicBezTo>
                        <a:pt x="49832" y="33914"/>
                        <a:pt x="29301" y="7565"/>
                        <a:pt x="0" y="0"/>
                      </a:cubicBez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4693920" y="1909762"/>
                <a:ext cx="1547393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前端 Vue 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200906" y="237744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组件负责交互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200906" y="2701290"/>
                <a:ext cx="211354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Pinia 维护页面状态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953250" y="1619250"/>
              <a:ext cx="2695606" cy="1562100"/>
              <a:chOff x="6953250" y="1619250"/>
              <a:chExt cx="2695606" cy="15621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953250" y="1619250"/>
                <a:ext cx="2419350" cy="1562100"/>
              </a:xfrm>
              <a:prstGeom prst="roundRect">
                <a:avLst>
                  <a:gd name="adj" fmla="val 14634"/>
                </a:avLst>
              </a:prstGeom>
              <a:solidFill>
                <a:schemeClr val="lt1"/>
              </a:solidFill>
              <a:ln w="38100">
                <a:solidFill>
                  <a:schemeClr val="accent2"/>
                </a:solidFill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7212806" y="1914525"/>
                <a:ext cx="300038" cy="266700"/>
                <a:chOff x="7212806" y="1914525"/>
                <a:chExt cx="300038" cy="266700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7212806" y="1914525"/>
                  <a:ext cx="300038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133350">
                      <a:moveTo>
                        <a:pt x="0" y="50006"/>
                      </a:moveTo>
                      <a:cubicBezTo>
                        <a:pt x="0" y="22389"/>
                        <a:pt x="22389" y="0"/>
                        <a:pt x="50006" y="0"/>
                      </a:cubicBezTo>
                      <a:lnTo>
                        <a:pt x="250031" y="0"/>
                      </a:lnTo>
                      <a:cubicBezTo>
                        <a:pt x="277649" y="0"/>
                        <a:pt x="300038" y="22389"/>
                        <a:pt x="300038" y="50006"/>
                      </a:cubicBezTo>
                      <a:lnTo>
                        <a:pt x="300038" y="83344"/>
                      </a:lnTo>
                      <a:cubicBezTo>
                        <a:pt x="300038" y="110961"/>
                        <a:pt x="277649" y="133350"/>
                        <a:pt x="250031" y="133350"/>
                      </a:cubicBezTo>
                      <a:lnTo>
                        <a:pt x="50006" y="133350"/>
                      </a:lnTo>
                      <a:cubicBezTo>
                        <a:pt x="22389" y="133350"/>
                        <a:pt x="0" y="110961"/>
                        <a:pt x="0" y="83344"/>
                      </a:cubicBezTo>
                      <a:lnTo>
                        <a:pt x="0" y="50006"/>
                      </a:lnTo>
                    </a:path>
                  </a:pathLst>
                </a:custGeom>
                <a:noFill/>
                <a:ln w="33338">
                  <a:solidFill>
                    <a:schemeClr val="accent2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7212806" y="2047875"/>
                  <a:ext cx="300038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133350">
                      <a:moveTo>
                        <a:pt x="0" y="50006"/>
                      </a:moveTo>
                      <a:cubicBezTo>
                        <a:pt x="0" y="22389"/>
                        <a:pt x="22389" y="0"/>
                        <a:pt x="50006" y="0"/>
                      </a:cubicBezTo>
                      <a:lnTo>
                        <a:pt x="250031" y="0"/>
                      </a:lnTo>
                      <a:cubicBezTo>
                        <a:pt x="277649" y="0"/>
                        <a:pt x="300038" y="22389"/>
                        <a:pt x="300038" y="50006"/>
                      </a:cubicBezTo>
                      <a:lnTo>
                        <a:pt x="300038" y="83344"/>
                      </a:lnTo>
                      <a:cubicBezTo>
                        <a:pt x="300038" y="110961"/>
                        <a:pt x="277649" y="133350"/>
                        <a:pt x="250031" y="133350"/>
                      </a:cubicBezTo>
                      <a:lnTo>
                        <a:pt x="50006" y="133350"/>
                      </a:lnTo>
                      <a:cubicBezTo>
                        <a:pt x="22389" y="133350"/>
                        <a:pt x="0" y="110961"/>
                        <a:pt x="0" y="83344"/>
                      </a:cubicBezTo>
                      <a:lnTo>
                        <a:pt x="0" y="50006"/>
                      </a:lnTo>
                    </a:path>
                  </a:pathLst>
                </a:custGeom>
                <a:noFill/>
                <a:ln w="33338">
                  <a:solidFill>
                    <a:schemeClr val="accent2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7279481" y="19812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67"/>
                      </a:lnTo>
                    </a:path>
                  </a:pathLst>
                </a:custGeom>
                <a:noFill/>
                <a:ln w="33338">
                  <a:solidFill>
                    <a:schemeClr val="accent2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7279481" y="21145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67"/>
                      </a:lnTo>
                    </a:path>
                  </a:pathLst>
                </a:custGeom>
                <a:noFill/>
                <a:ln w="33338">
                  <a:solidFill>
                    <a:schemeClr val="accent2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7684770" y="1909762"/>
                <a:ext cx="196408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后端 Express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191756" y="2377440"/>
                <a:ext cx="20295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路由 → 服务 → 模型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191756" y="270129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校验业务规则与权限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9867900" y="1619250"/>
              <a:ext cx="1619250" cy="1562100"/>
              <a:chOff x="9867900" y="1619250"/>
              <a:chExt cx="1619250" cy="15621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9867900" y="1619250"/>
                <a:ext cx="1619250" cy="1562100"/>
              </a:xfrm>
              <a:prstGeom prst="roundRect">
                <a:avLst>
                  <a:gd name="adj" fmla="val 14634"/>
                </a:avLst>
              </a:prstGeom>
              <a:solidFill>
                <a:schemeClr val="accent3">
                  <a:alpha val="54000"/>
                </a:schemeClr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10544175" y="1897856"/>
                <a:ext cx="266700" cy="300038"/>
                <a:chOff x="10544175" y="1897856"/>
                <a:chExt cx="266700" cy="300038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10544175" y="1897856"/>
                  <a:ext cx="2667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100012">
                      <a:moveTo>
                        <a:pt x="0" y="50006"/>
                      </a:moveTo>
                      <a:cubicBezTo>
                        <a:pt x="0" y="77624"/>
                        <a:pt x="59703" y="100012"/>
                        <a:pt x="133350" y="100012"/>
                      </a:cubicBezTo>
                      <a:cubicBezTo>
                        <a:pt x="206997" y="100012"/>
                        <a:pt x="266700" y="77624"/>
                        <a:pt x="266700" y="50006"/>
                      </a:cubicBezTo>
                      <a:cubicBezTo>
                        <a:pt x="266700" y="22389"/>
                        <a:pt x="206997" y="0"/>
                        <a:pt x="133350" y="0"/>
                      </a:cubicBezTo>
                      <a:cubicBezTo>
                        <a:pt x="59703" y="0"/>
                        <a:pt x="0" y="22389"/>
                        <a:pt x="0" y="50006"/>
                      </a:cubicBez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10544175" y="1947862"/>
                  <a:ext cx="266700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150019">
                      <a:moveTo>
                        <a:pt x="0" y="0"/>
                      </a:moveTo>
                      <a:lnTo>
                        <a:pt x="0" y="100012"/>
                      </a:lnTo>
                      <a:cubicBezTo>
                        <a:pt x="0" y="127630"/>
                        <a:pt x="59703" y="150019"/>
                        <a:pt x="133350" y="150019"/>
                      </a:cubicBezTo>
                      <a:cubicBezTo>
                        <a:pt x="206997" y="150019"/>
                        <a:pt x="266700" y="127630"/>
                        <a:pt x="266700" y="100012"/>
                      </a:cubicBezTo>
                      <a:lnTo>
                        <a:pt x="266700" y="0"/>
                      </a:ln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0544175" y="2047875"/>
                  <a:ext cx="266700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150019">
                      <a:moveTo>
                        <a:pt x="0" y="0"/>
                      </a:moveTo>
                      <a:lnTo>
                        <a:pt x="0" y="100012"/>
                      </a:lnTo>
                      <a:cubicBezTo>
                        <a:pt x="0" y="127630"/>
                        <a:pt x="59703" y="150019"/>
                        <a:pt x="133350" y="150019"/>
                      </a:cubicBezTo>
                      <a:cubicBezTo>
                        <a:pt x="206997" y="150019"/>
                        <a:pt x="266700" y="127630"/>
                        <a:pt x="266700" y="100012"/>
                      </a:cubicBezTo>
                      <a:lnTo>
                        <a:pt x="266700" y="0"/>
                      </a:ln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10142500" y="2328862"/>
                <a:ext cx="1070051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MySQL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899675" y="2717482"/>
                <a:ext cx="155569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Sequelize ORM</a:t>
                </a:r>
              </a:p>
            </p:txBody>
          </p:sp>
        </p:grpSp>
        <p:sp>
          <p:nvSpPr>
            <p:cNvPr id="43" name="Freeform 43"/>
            <p:cNvSpPr/>
            <p:nvPr/>
          </p:nvSpPr>
          <p:spPr>
            <a:xfrm>
              <a:off x="6400800" y="2400300"/>
              <a:ext cx="514350" cy="9525"/>
            </a:xfrm>
            <a:custGeom>
              <a:avLst/>
              <a:gdLst/>
              <a:ahLst/>
              <a:cxnLst/>
              <a:rect l="l" t="t" r="r" b="b"/>
              <a:pathLst>
                <a:path w="514350" h="9525">
                  <a:moveTo>
                    <a:pt x="0" y="0"/>
                  </a:moveTo>
                  <a:cubicBezTo>
                    <a:pt x="190500" y="0"/>
                    <a:pt x="342900" y="0"/>
                    <a:pt x="514350" y="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00952" y="2069782"/>
              <a:ext cx="5330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HTTP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9391650" y="240030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cubicBezTo>
                    <a:pt x="152400" y="0"/>
                    <a:pt x="304800" y="0"/>
                    <a:pt x="438150" y="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3962400" y="3321050"/>
              <a:ext cx="7524750" cy="1041400"/>
              <a:chOff x="3962400" y="3321050"/>
              <a:chExt cx="7524750" cy="1041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3962400" y="3486150"/>
                <a:ext cx="7524750" cy="876300"/>
              </a:xfrm>
              <a:prstGeom prst="roundRect">
                <a:avLst>
                  <a:gd name="adj" fmla="val 2391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4221956" y="3814762"/>
                <a:ext cx="300037" cy="200025"/>
                <a:chOff x="4221956" y="3814762"/>
                <a:chExt cx="300037" cy="200025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4288631" y="3814762"/>
                  <a:ext cx="233362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66675">
                      <a:moveTo>
                        <a:pt x="0" y="66675"/>
                      </a:moveTo>
                      <a:lnTo>
                        <a:pt x="233362" y="66675"/>
                      </a:lnTo>
                      <a:lnTo>
                        <a:pt x="166688" y="0"/>
                      </a:ln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4221956" y="3948112"/>
                  <a:ext cx="233362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66675">
                      <a:moveTo>
                        <a:pt x="233362" y="0"/>
                      </a:moveTo>
                      <a:lnTo>
                        <a:pt x="0" y="0"/>
                      </a:lnTo>
                      <a:lnTo>
                        <a:pt x="66675" y="66675"/>
                      </a:ln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4753356" y="3691890"/>
                <a:ext cx="129146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Socket.IO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277356" y="3691890"/>
                <a:ext cx="348340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消息广播 · 在线状态 · 通话信令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4754118" y="4012882"/>
                <a:ext cx="425931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长连接让“服务器主动通知客户端”成为可能</a:t>
                </a:r>
              </a:p>
            </p:txBody>
          </p:sp>
          <p:sp>
            <p:nvSpPr>
              <p:cNvPr id="53" name="Freeform 53"/>
              <p:cNvSpPr/>
              <p:nvPr/>
            </p:nvSpPr>
            <p:spPr>
              <a:xfrm>
                <a:off x="4476750" y="3321050"/>
                <a:ext cx="451485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4514850" h="203200">
                    <a:moveTo>
                      <a:pt x="0" y="203200"/>
                    </a:moveTo>
                    <a:cubicBezTo>
                      <a:pt x="1600200" y="0"/>
                      <a:pt x="3105150" y="0"/>
                      <a:pt x="4514850" y="203200"/>
                    </a:cubicBezTo>
                  </a:path>
                </a:pathLst>
              </a:custGeom>
              <a:noFill/>
              <a:ln w="28575" cap="rnd">
                <a:solidFill>
                  <a:schemeClr val="accent1"/>
                </a:solidFill>
                <a:tailEnd type="triangle" w="lg" len="lg"/>
              </a:ln>
            </p:spPr>
          </p:sp>
        </p:grpSp>
        <p:grpSp>
          <p:nvGrpSpPr>
            <p:cNvPr id="61" name="Group 61"/>
            <p:cNvGrpSpPr/>
            <p:nvPr/>
          </p:nvGrpSpPr>
          <p:grpSpPr>
            <a:xfrm>
              <a:off x="3962400" y="4451350"/>
              <a:ext cx="7524750" cy="1016000"/>
              <a:chOff x="3962400" y="4451350"/>
              <a:chExt cx="7524750" cy="10160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3962400" y="4591050"/>
                <a:ext cx="7524750" cy="876300"/>
              </a:xfrm>
              <a:prstGeom prst="roundRect">
                <a:avLst>
                  <a:gd name="adj" fmla="val 23913"/>
                </a:avLst>
              </a:prstGeom>
              <a:solidFill>
                <a:schemeClr val="lt1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4221956" y="4886325"/>
                <a:ext cx="283369" cy="283369"/>
              </a:xfrm>
              <a:custGeom>
                <a:avLst/>
                <a:gdLst/>
                <a:ahLst/>
                <a:cxnLst/>
                <a:rect l="l" t="t" r="r" b="b"/>
                <a:pathLst>
                  <a:path w="283369" h="283369">
                    <a:moveTo>
                      <a:pt x="33338" y="0"/>
                    </a:moveTo>
                    <a:lnTo>
                      <a:pt x="100012" y="0"/>
                    </a:lnTo>
                    <a:lnTo>
                      <a:pt x="133350" y="83344"/>
                    </a:lnTo>
                    <a:lnTo>
                      <a:pt x="91678" y="108347"/>
                    </a:lnTo>
                    <a:cubicBezTo>
                      <a:pt x="109530" y="144544"/>
                      <a:pt x="138825" y="173839"/>
                      <a:pt x="175022" y="191691"/>
                    </a:cubicBezTo>
                    <a:lnTo>
                      <a:pt x="200025" y="150019"/>
                    </a:lnTo>
                    <a:lnTo>
                      <a:pt x="283369" y="183356"/>
                    </a:lnTo>
                    <a:lnTo>
                      <a:pt x="283369" y="250031"/>
                    </a:lnTo>
                    <a:cubicBezTo>
                      <a:pt x="283369" y="268443"/>
                      <a:pt x="268443" y="283369"/>
                      <a:pt x="250031" y="283369"/>
                    </a:cubicBezTo>
                    <a:cubicBezTo>
                      <a:pt x="115475" y="275192"/>
                      <a:pt x="8177" y="167893"/>
                      <a:pt x="0" y="33338"/>
                    </a:cubicBezTo>
                    <a:cubicBezTo>
                      <a:pt x="0" y="14926"/>
                      <a:pt x="14926" y="0"/>
                      <a:pt x="33338" y="0"/>
                    </a:cubicBez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4753356" y="4796790"/>
                <a:ext cx="9424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WebRTC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220206" y="4796790"/>
                <a:ext cx="26837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浏览器之间直接传输音频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4754118" y="5117782"/>
                <a:ext cx="524376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服务端只交换 offer / answer / ICE，不承载媒体流</a:t>
                </a:r>
              </a:p>
            </p:txBody>
          </p:sp>
          <p:sp>
            <p:nvSpPr>
              <p:cNvPr id="60" name="Freeform 60"/>
              <p:cNvSpPr/>
              <p:nvPr/>
            </p:nvSpPr>
            <p:spPr>
              <a:xfrm>
                <a:off x="8305800" y="4451350"/>
                <a:ext cx="262890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254000">
                    <a:moveTo>
                      <a:pt x="0" y="254000"/>
                    </a:moveTo>
                    <a:cubicBezTo>
                      <a:pt x="876300" y="0"/>
                      <a:pt x="1752600" y="0"/>
                      <a:pt x="2628900" y="254000"/>
                    </a:cubicBezTo>
                  </a:path>
                </a:pathLst>
              </a:custGeom>
              <a:noFill/>
              <a:ln w="28575" cap="rnd">
                <a:solidFill>
                  <a:schemeClr val="accent2"/>
                </a:solidFill>
                <a:tailEnd type="triangle" w="lg" len="lg"/>
              </a:ln>
            </p:spPr>
          </p:sp>
        </p:grpSp>
      </p:grpSp>
      <p:grpSp>
        <p:nvGrpSpPr>
          <p:cNvPr id="65" name="Group 65"/>
          <p:cNvGrpSpPr/>
          <p:nvPr/>
        </p:nvGrpSpPr>
        <p:grpSpPr>
          <a:xfrm>
            <a:off x="609600" y="5848350"/>
            <a:ext cx="10972800" cy="521017"/>
            <a:chOff x="609600" y="5848350"/>
            <a:chExt cx="10972800" cy="521017"/>
          </a:xfrm>
        </p:grpSpPr>
        <p:sp>
          <p:nvSpPr>
            <p:cNvPr id="63" name="Rectangle 63"/>
            <p:cNvSpPr/>
            <p:nvPr/>
          </p:nvSpPr>
          <p:spPr>
            <a:xfrm>
              <a:off x="609600" y="5848350"/>
              <a:ext cx="10972800" cy="476250"/>
            </a:xfrm>
            <a:prstGeom prst="roundRect">
              <a:avLst>
                <a:gd name="adj" fmla="val 3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26770" y="5929312"/>
              <a:ext cx="768913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分层解决</a:t>
              </a: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“谁负责什么”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，协议分工解决</a:t>
              </a: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“信息怎样流动”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66" name="TextBox 66"/>
            <p:cNvSpPr txBox="1"/>
            <p:nvPr/>
          </p:nvSpPr>
          <p:spPr>
            <a:xfrm>
              <a:off x="603504" y="6480810"/>
              <a:ext cx="10960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ARCHITECTURE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398606" y="64808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81050" y="514350"/>
            <a:ext cx="10782300" cy="5829300"/>
            <a:chOff x="781050" y="514350"/>
            <a:chExt cx="10782300" cy="5829300"/>
          </a:xfrm>
        </p:grpSpPr>
        <p:sp>
          <p:nvSpPr>
            <p:cNvPr id="2" name="Freeform 2"/>
            <p:cNvSpPr/>
            <p:nvPr/>
          </p:nvSpPr>
          <p:spPr>
            <a:xfrm>
              <a:off x="11163300" y="514350"/>
              <a:ext cx="400050" cy="133350"/>
            </a:xfrm>
            <a:custGeom>
              <a:avLst/>
              <a:gdLst/>
              <a:ahLst/>
              <a:cxnLst/>
              <a:rect l="l" t="t" r="r" b="b"/>
              <a:pathLst>
                <a:path w="400050" h="133350">
                  <a:moveTo>
                    <a:pt x="0" y="133350"/>
                  </a:moveTo>
                  <a:lnTo>
                    <a:pt x="133350" y="0"/>
                  </a:lnTo>
                  <a:lnTo>
                    <a:pt x="266700" y="133350"/>
                  </a:lnTo>
                  <a:lnTo>
                    <a:pt x="400050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3" name="Freeform 3"/>
            <p:cNvSpPr/>
            <p:nvPr/>
          </p:nvSpPr>
          <p:spPr>
            <a:xfrm>
              <a:off x="781050" y="6115050"/>
              <a:ext cx="609600" cy="228600"/>
            </a:xfrm>
            <a:custGeom>
              <a:avLst/>
              <a:gdLst/>
              <a:ahLst/>
              <a:cxnLst/>
              <a:rect l="l" t="t" r="r" b="b"/>
              <a:pathLst>
                <a:path w="609600" h="228600">
                  <a:moveTo>
                    <a:pt x="0" y="114300"/>
                  </a:moveTo>
                  <a:cubicBezTo>
                    <a:pt x="101600" y="0"/>
                    <a:pt x="203200" y="0"/>
                    <a:pt x="304800" y="114300"/>
                  </a:cubicBezTo>
                  <a:cubicBezTo>
                    <a:pt x="406400" y="228600"/>
                    <a:pt x="508000" y="228600"/>
                    <a:pt x="609600" y="114300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90550" y="445770"/>
            <a:ext cx="8359140" cy="762000"/>
            <a:chOff x="590550" y="445770"/>
            <a:chExt cx="8359140" cy="76200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445770"/>
              <a:ext cx="835914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第二步：让数据结构承担真实职责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628650" y="1031875"/>
              <a:ext cx="3676650" cy="73025"/>
            </a:xfrm>
            <a:custGeom>
              <a:avLst/>
              <a:gdLst/>
              <a:ahLst/>
              <a:cxnLst/>
              <a:rect l="l" t="t" r="r" b="b"/>
              <a:pathLst>
                <a:path w="3676650" h="73025">
                  <a:moveTo>
                    <a:pt x="0" y="63500"/>
                  </a:moveTo>
                  <a:cubicBezTo>
                    <a:pt x="1244600" y="0"/>
                    <a:pt x="2470150" y="3175"/>
                    <a:pt x="3676650" y="73025"/>
                  </a:cubicBezTo>
                </a:path>
              </a:pathLst>
            </a:custGeom>
            <a:noFill/>
            <a:ln w="57150" cap="rnd">
              <a:solidFill>
                <a:schemeClr val="accent2">
                  <a:alpha val="68000"/>
                </a:schemeClr>
              </a:solidFill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609600" y="1466850"/>
            <a:ext cx="10972800" cy="4191000"/>
            <a:chOff x="609600" y="1466850"/>
            <a:chExt cx="10972800" cy="4191000"/>
          </a:xfrm>
        </p:grpSpPr>
        <p:grpSp>
          <p:nvGrpSpPr>
            <p:cNvPr id="30" name="Group 30"/>
            <p:cNvGrpSpPr/>
            <p:nvPr/>
          </p:nvGrpSpPr>
          <p:grpSpPr>
            <a:xfrm>
              <a:off x="609600" y="1466850"/>
              <a:ext cx="3552225" cy="4191000"/>
              <a:chOff x="609600" y="1466850"/>
              <a:chExt cx="3552225" cy="41910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609600" y="1466850"/>
                <a:ext cx="3276600" cy="4191000"/>
              </a:xfrm>
              <a:prstGeom prst="roundRect">
                <a:avLst>
                  <a:gd name="adj" fmla="val 6977"/>
                </a:avLst>
              </a:prstGeom>
              <a:solidFill>
                <a:schemeClr val="lt2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888206" y="1745456"/>
                <a:ext cx="300038" cy="300038"/>
                <a:chOff x="888206" y="1745456"/>
                <a:chExt cx="300038" cy="300038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888206" y="1978819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121569" y="1745456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33338" y="66675"/>
                      </a:move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  <a:cubicBezTo>
                        <a:pt x="0" y="51749"/>
                        <a:pt x="14926" y="66675"/>
                        <a:pt x="33338" y="66675"/>
                      </a:cubicBez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921544" y="1778794"/>
                  <a:ext cx="250031" cy="233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031" h="233362">
                      <a:moveTo>
                        <a:pt x="100012" y="233362"/>
                      </a:moveTo>
                      <a:lnTo>
                        <a:pt x="191691" y="233362"/>
                      </a:lnTo>
                      <a:cubicBezTo>
                        <a:pt x="223911" y="233362"/>
                        <a:pt x="250031" y="207243"/>
                        <a:pt x="250031" y="175022"/>
                      </a:cubicBezTo>
                      <a:cubicBezTo>
                        <a:pt x="250031" y="142801"/>
                        <a:pt x="223911" y="116681"/>
                        <a:pt x="191691" y="116681"/>
                      </a:cubicBezTo>
                      <a:lnTo>
                        <a:pt x="58341" y="116681"/>
                      </a:lnTo>
                      <a:cubicBezTo>
                        <a:pt x="26120" y="116681"/>
                        <a:pt x="0" y="90561"/>
                        <a:pt x="0" y="58341"/>
                      </a:cubicBezTo>
                      <a:cubicBezTo>
                        <a:pt x="0" y="26120"/>
                        <a:pt x="26120" y="0"/>
                        <a:pt x="58341" y="0"/>
                      </a:cubicBezTo>
                      <a:lnTo>
                        <a:pt x="133350" y="0"/>
                      </a:ln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379220" y="1766888"/>
                <a:ext cx="2782605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Map：定位在线用户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67156" y="2225040"/>
                <a:ext cx="205798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userId → socketId</a:t>
                </a:r>
              </a:p>
            </p:txBody>
          </p:sp>
          <p:grpSp>
            <p:nvGrpSpPr>
              <p:cNvPr id="25" name="Group 25"/>
              <p:cNvGrpSpPr/>
              <p:nvPr/>
            </p:nvGrpSpPr>
            <p:grpSpPr>
              <a:xfrm>
                <a:off x="876300" y="2686050"/>
                <a:ext cx="2762250" cy="1276350"/>
                <a:chOff x="876300" y="2686050"/>
                <a:chExt cx="2762250" cy="1276350"/>
              </a:xfrm>
            </p:grpSpPr>
            <p:sp>
              <p:nvSpPr>
                <p:cNvPr id="15" name="Rectangle 15"/>
                <p:cNvSpPr/>
                <p:nvPr/>
              </p:nvSpPr>
              <p:spPr>
                <a:xfrm>
                  <a:off x="876300" y="2686050"/>
                  <a:ext cx="1181100" cy="552450"/>
                </a:xfrm>
                <a:prstGeom prst="roundRect">
                  <a:avLst>
                    <a:gd name="adj" fmla="val 24138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057885" y="2844165"/>
                  <a:ext cx="817931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user_7</a:t>
                  </a:r>
                </a:p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2114550" y="2892425"/>
                  <a:ext cx="41910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69850">
                      <a:moveTo>
                        <a:pt x="0" y="69850"/>
                      </a:moveTo>
                      <a:cubicBezTo>
                        <a:pt x="152400" y="0"/>
                        <a:pt x="292100" y="0"/>
                        <a:pt x="419100" y="69850"/>
                      </a:cubicBezTo>
                    </a:path>
                  </a:pathLst>
                </a:custGeom>
                <a:noFill/>
                <a:ln w="38100" cap="rnd">
                  <a:solidFill>
                    <a:schemeClr val="accent2"/>
                  </a:solidFill>
                  <a:tailEnd type="triangle" w="lg" len="lg"/>
                </a:ln>
              </p:spPr>
            </p:sp>
            <p:sp>
              <p:nvSpPr>
                <p:cNvPr id="18" name="Rectangle 18"/>
                <p:cNvSpPr/>
                <p:nvPr/>
              </p:nvSpPr>
              <p:spPr>
                <a:xfrm>
                  <a:off x="2609850" y="2686050"/>
                  <a:ext cx="1028700" cy="552450"/>
                </a:xfrm>
                <a:prstGeom prst="roundRect">
                  <a:avLst>
                    <a:gd name="adj" fmla="val 24138"/>
                  </a:avLst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2840965" y="2844165"/>
                  <a:ext cx="566471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s_A2</a:t>
                  </a:r>
                </a:p>
              </p:txBody>
            </p:sp>
            <p:sp>
              <p:nvSpPr>
                <p:cNvPr id="20" name="Rectangle 20"/>
                <p:cNvSpPr/>
                <p:nvPr/>
              </p:nvSpPr>
              <p:spPr>
                <a:xfrm>
                  <a:off x="876300" y="3409950"/>
                  <a:ext cx="1181100" cy="552450"/>
                </a:xfrm>
                <a:prstGeom prst="roundRect">
                  <a:avLst>
                    <a:gd name="adj" fmla="val 24138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057885" y="3568065"/>
                  <a:ext cx="817931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user_9</a:t>
                  </a:r>
                </a:p>
              </p:txBody>
            </p:sp>
            <p:sp>
              <p:nvSpPr>
                <p:cNvPr id="22" name="Freeform 22"/>
                <p:cNvSpPr/>
                <p:nvPr/>
              </p:nvSpPr>
              <p:spPr>
                <a:xfrm>
                  <a:off x="2114550" y="3616325"/>
                  <a:ext cx="41910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69850">
                      <a:moveTo>
                        <a:pt x="0" y="69850"/>
                      </a:moveTo>
                      <a:cubicBezTo>
                        <a:pt x="152400" y="0"/>
                        <a:pt x="292100" y="0"/>
                        <a:pt x="419100" y="69850"/>
                      </a:cubicBezTo>
                    </a:path>
                  </a:pathLst>
                </a:custGeom>
                <a:noFill/>
                <a:ln w="38100" cap="rnd">
                  <a:solidFill>
                    <a:schemeClr val="accent2"/>
                  </a:solidFill>
                  <a:tailEnd type="triangle" w="lg" len="lg"/>
                </a:ln>
              </p:spPr>
            </p:sp>
            <p:sp>
              <p:nvSpPr>
                <p:cNvPr id="23" name="Rectangle 23"/>
                <p:cNvSpPr/>
                <p:nvPr/>
              </p:nvSpPr>
              <p:spPr>
                <a:xfrm>
                  <a:off x="2609850" y="3409950"/>
                  <a:ext cx="1028700" cy="552450"/>
                </a:xfrm>
                <a:prstGeom prst="roundRect">
                  <a:avLst>
                    <a:gd name="adj" fmla="val 24138"/>
                  </a:avLst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2840965" y="3568065"/>
                  <a:ext cx="566471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s_F8</a:t>
                  </a:r>
                </a:p>
              </p:txBody>
            </p:sp>
          </p:grpSp>
          <p:sp>
            <p:nvSpPr>
              <p:cNvPr id="26" name="Rectangle 26"/>
              <p:cNvSpPr/>
              <p:nvPr/>
            </p:nvSpPr>
            <p:spPr>
              <a:xfrm>
                <a:off x="876300" y="4362450"/>
                <a:ext cx="2762250" cy="895350"/>
              </a:xfrm>
              <a:prstGeom prst="roundRect">
                <a:avLst>
                  <a:gd name="adj" fmla="val 19149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57656" y="4511040"/>
                <a:ext cx="181007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为什么选 Map？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58418" y="4860608"/>
                <a:ext cx="26822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定向推送无需遍历全部连接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026021" y="5327332"/>
                <a:ext cx="162091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平均查询 O(1)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4114800" y="1466850"/>
              <a:ext cx="3714750" cy="4191000"/>
              <a:chOff x="4114800" y="1466850"/>
              <a:chExt cx="3714750" cy="41910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4114800" y="1466850"/>
                <a:ext cx="3714750" cy="4191000"/>
              </a:xfrm>
              <a:prstGeom prst="roundRect">
                <a:avLst>
                  <a:gd name="adj" fmla="val 6154"/>
                </a:avLst>
              </a:prstGeom>
              <a:solidFill>
                <a:schemeClr val="lt1"/>
              </a:solidFill>
              <a:ln w="38100">
                <a:solidFill>
                  <a:schemeClr val="accent3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4410075" y="1745456"/>
                <a:ext cx="266700" cy="300038"/>
                <a:chOff x="4410075" y="1745456"/>
                <a:chExt cx="266700" cy="300038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4410075" y="1745456"/>
                  <a:ext cx="2667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100012">
                      <a:moveTo>
                        <a:pt x="0" y="50006"/>
                      </a:moveTo>
                      <a:cubicBezTo>
                        <a:pt x="0" y="77624"/>
                        <a:pt x="59703" y="100012"/>
                        <a:pt x="133350" y="100012"/>
                      </a:cubicBezTo>
                      <a:cubicBezTo>
                        <a:pt x="206997" y="100012"/>
                        <a:pt x="266700" y="77624"/>
                        <a:pt x="266700" y="50006"/>
                      </a:cubicBezTo>
                      <a:cubicBezTo>
                        <a:pt x="266700" y="22389"/>
                        <a:pt x="206997" y="0"/>
                        <a:pt x="133350" y="0"/>
                      </a:cubicBezTo>
                      <a:cubicBezTo>
                        <a:pt x="59703" y="0"/>
                        <a:pt x="0" y="22389"/>
                        <a:pt x="0" y="50006"/>
                      </a:cubicBez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410075" y="1795462"/>
                  <a:ext cx="266700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150019">
                      <a:moveTo>
                        <a:pt x="0" y="0"/>
                      </a:moveTo>
                      <a:lnTo>
                        <a:pt x="0" y="100012"/>
                      </a:lnTo>
                      <a:cubicBezTo>
                        <a:pt x="0" y="127630"/>
                        <a:pt x="59703" y="150019"/>
                        <a:pt x="133350" y="150019"/>
                      </a:cubicBezTo>
                      <a:cubicBezTo>
                        <a:pt x="206997" y="150019"/>
                        <a:pt x="266700" y="127630"/>
                        <a:pt x="266700" y="100012"/>
                      </a:cubicBezTo>
                      <a:lnTo>
                        <a:pt x="266700" y="0"/>
                      </a:ln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410075" y="1895475"/>
                  <a:ext cx="266700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150019">
                      <a:moveTo>
                        <a:pt x="0" y="0"/>
                      </a:moveTo>
                      <a:lnTo>
                        <a:pt x="0" y="100012"/>
                      </a:lnTo>
                      <a:cubicBezTo>
                        <a:pt x="0" y="127630"/>
                        <a:pt x="59703" y="150019"/>
                        <a:pt x="133350" y="150019"/>
                      </a:cubicBezTo>
                      <a:cubicBezTo>
                        <a:pt x="206997" y="150019"/>
                        <a:pt x="266700" y="127630"/>
                        <a:pt x="266700" y="100012"/>
                      </a:cubicBezTo>
                      <a:lnTo>
                        <a:pt x="266700" y="0"/>
                      </a:ln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4884420" y="1766888"/>
                <a:ext cx="244602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五张表：组织关系</a:t>
                </a:r>
              </a:p>
            </p:txBody>
          </p:sp>
          <p:grpSp>
            <p:nvGrpSpPr>
              <p:cNvPr id="47" name="Group 47"/>
              <p:cNvGrpSpPr/>
              <p:nvPr/>
            </p:nvGrpSpPr>
            <p:grpSpPr>
              <a:xfrm>
                <a:off x="4362450" y="2533650"/>
                <a:ext cx="3219450" cy="2533650"/>
                <a:chOff x="4362450" y="2533650"/>
                <a:chExt cx="3219450" cy="2533650"/>
              </a:xfrm>
            </p:grpSpPr>
            <p:sp>
              <p:nvSpPr>
                <p:cNvPr id="37" name="Rectangle 37"/>
                <p:cNvSpPr/>
                <p:nvPr/>
              </p:nvSpPr>
              <p:spPr>
                <a:xfrm>
                  <a:off x="4362450" y="2533650"/>
                  <a:ext cx="1200150" cy="514350"/>
                </a:xfrm>
                <a:prstGeom prst="roundRect">
                  <a:avLst>
                    <a:gd name="adj" fmla="val 25926"/>
                  </a:avLst>
                </a:prstGeom>
                <a:solidFill>
                  <a:schemeClr val="lt2"/>
                </a:solidFill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4693960" y="2688908"/>
                  <a:ext cx="537129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User</a:t>
                  </a:r>
                </a:p>
              </p:txBody>
            </p:sp>
            <p:sp>
              <p:nvSpPr>
                <p:cNvPr id="39" name="Rectangle 39"/>
                <p:cNvSpPr/>
                <p:nvPr/>
              </p:nvSpPr>
              <p:spPr>
                <a:xfrm>
                  <a:off x="6381750" y="2533650"/>
                  <a:ext cx="1200150" cy="514350"/>
                </a:xfrm>
                <a:prstGeom prst="roundRect">
                  <a:avLst>
                    <a:gd name="adj" fmla="val 25926"/>
                  </a:avLst>
                </a:prstGeom>
                <a:solidFill>
                  <a:schemeClr val="lt2"/>
                </a:solidFill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6689608" y="2688908"/>
                  <a:ext cx="58443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Room</a:t>
                  </a:r>
                </a:p>
              </p:txBody>
            </p:sp>
            <p:sp>
              <p:nvSpPr>
                <p:cNvPr id="41" name="Rectangle 41"/>
                <p:cNvSpPr/>
                <p:nvPr/>
              </p:nvSpPr>
              <p:spPr>
                <a:xfrm>
                  <a:off x="5172075" y="3409950"/>
                  <a:ext cx="1600200" cy="552450"/>
                </a:xfrm>
                <a:prstGeom prst="roundRect">
                  <a:avLst>
                    <a:gd name="adj" fmla="val 24138"/>
                  </a:avLst>
                </a:prstGeom>
                <a:solidFill>
                  <a:schemeClr val="accent3">
                    <a:alpha val="68000"/>
                  </a:schemeClr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5244391" y="3574732"/>
                  <a:ext cx="1455568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RoomMember</a:t>
                  </a:r>
                </a:p>
              </p:txBody>
            </p:sp>
            <p:sp>
              <p:nvSpPr>
                <p:cNvPr id="43" name="Rectangle 43"/>
                <p:cNvSpPr/>
                <p:nvPr/>
              </p:nvSpPr>
              <p:spPr>
                <a:xfrm>
                  <a:off x="4362450" y="4552950"/>
                  <a:ext cx="1314450" cy="514350"/>
                </a:xfrm>
                <a:prstGeom prst="roundRect">
                  <a:avLst>
                    <a:gd name="adj" fmla="val 25926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4531366" y="4708208"/>
                  <a:ext cx="976618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RoomBan</a:t>
                  </a:r>
                </a:p>
              </p:txBody>
            </p:sp>
            <p:sp>
              <p:nvSpPr>
                <p:cNvPr id="45" name="Rectangle 45"/>
                <p:cNvSpPr/>
                <p:nvPr/>
              </p:nvSpPr>
              <p:spPr>
                <a:xfrm>
                  <a:off x="6343650" y="4552950"/>
                  <a:ext cx="1238250" cy="514350"/>
                </a:xfrm>
                <a:prstGeom prst="roundRect">
                  <a:avLst>
                    <a:gd name="adj" fmla="val 25926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6478285" y="4708208"/>
                  <a:ext cx="968980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Message</a:t>
                  </a:r>
                </a:p>
              </p:txBody>
            </p:sp>
          </p:grpSp>
          <p:grpSp>
            <p:nvGrpSpPr>
              <p:cNvPr id="52" name="Group 52"/>
              <p:cNvGrpSpPr/>
              <p:nvPr/>
            </p:nvGrpSpPr>
            <p:grpSpPr>
              <a:xfrm>
                <a:off x="5048250" y="3048000"/>
                <a:ext cx="1885950" cy="1504950"/>
                <a:chOff x="5048250" y="3048000"/>
                <a:chExt cx="1885950" cy="1504950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5143500" y="3048000"/>
                  <a:ext cx="41910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361950">
                      <a:moveTo>
                        <a:pt x="0" y="0"/>
                      </a:moveTo>
                      <a:cubicBezTo>
                        <a:pt x="114300" y="114300"/>
                        <a:pt x="254000" y="234950"/>
                        <a:pt x="419100" y="361950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1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6400800" y="3048000"/>
                  <a:ext cx="40005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050" h="361950">
                      <a:moveTo>
                        <a:pt x="400050" y="0"/>
                      </a:moveTo>
                      <a:cubicBezTo>
                        <a:pt x="285750" y="114300"/>
                        <a:pt x="152400" y="234950"/>
                        <a:pt x="0" y="361950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1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5048250" y="3962400"/>
                  <a:ext cx="495300" cy="59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00" h="590550">
                      <a:moveTo>
                        <a:pt x="495300" y="0"/>
                      </a:moveTo>
                      <a:cubicBezTo>
                        <a:pt x="279400" y="190500"/>
                        <a:pt x="114300" y="387350"/>
                        <a:pt x="0" y="590550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1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6457950" y="3962400"/>
                  <a:ext cx="476250" cy="59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590550">
                      <a:moveTo>
                        <a:pt x="0" y="0"/>
                      </a:moveTo>
                      <a:cubicBezTo>
                        <a:pt x="203200" y="190500"/>
                        <a:pt x="361950" y="387350"/>
                        <a:pt x="476250" y="590550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1"/>
                  </a:solidFill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4186809" y="5117782"/>
                <a:ext cx="35707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成员角色、禁言与消息都有清晰归属</a:t>
                </a: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8058150" y="1466850"/>
              <a:ext cx="3524250" cy="4191000"/>
              <a:chOff x="8058150" y="1466850"/>
              <a:chExt cx="3524250" cy="41910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8058150" y="1466850"/>
                <a:ext cx="3524250" cy="4191000"/>
              </a:xfrm>
              <a:prstGeom prst="roundRect">
                <a:avLst>
                  <a:gd name="adj" fmla="val 6486"/>
                </a:avLst>
              </a:prstGeom>
              <a:solidFill>
                <a:schemeClr val="lt2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36756" y="1762125"/>
                <a:ext cx="283369" cy="283369"/>
              </a:xfrm>
              <a:custGeom>
                <a:avLst/>
                <a:gdLst/>
                <a:ahLst/>
                <a:cxnLst/>
                <a:rect l="l" t="t" r="r" b="b"/>
                <a:pathLst>
                  <a:path w="283369" h="283369">
                    <a:moveTo>
                      <a:pt x="33338" y="0"/>
                    </a:moveTo>
                    <a:lnTo>
                      <a:pt x="100012" y="0"/>
                    </a:lnTo>
                    <a:lnTo>
                      <a:pt x="133350" y="83344"/>
                    </a:lnTo>
                    <a:lnTo>
                      <a:pt x="91678" y="108347"/>
                    </a:lnTo>
                    <a:cubicBezTo>
                      <a:pt x="109530" y="144544"/>
                      <a:pt x="138825" y="173839"/>
                      <a:pt x="175022" y="191691"/>
                    </a:cubicBezTo>
                    <a:lnTo>
                      <a:pt x="200025" y="150019"/>
                    </a:lnTo>
                    <a:lnTo>
                      <a:pt x="283369" y="183356"/>
                    </a:lnTo>
                    <a:lnTo>
                      <a:pt x="283369" y="250031"/>
                    </a:lnTo>
                    <a:cubicBezTo>
                      <a:pt x="283369" y="268443"/>
                      <a:pt x="268443" y="283369"/>
                      <a:pt x="250031" y="283369"/>
                    </a:cubicBezTo>
                    <a:cubicBezTo>
                      <a:pt x="115475" y="275192"/>
                      <a:pt x="8177" y="167893"/>
                      <a:pt x="0" y="33338"/>
                    </a:cubicBezTo>
                    <a:cubicBezTo>
                      <a:pt x="0" y="14926"/>
                      <a:pt x="14926" y="0"/>
                      <a:pt x="33338" y="0"/>
                    </a:cubicBez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827770" y="1766888"/>
                <a:ext cx="2244738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FSM：约束通话</a:t>
                </a:r>
              </a:p>
            </p:txBody>
          </p:sp>
          <p:grpSp>
            <p:nvGrpSpPr>
              <p:cNvPr id="66" name="Group 66"/>
              <p:cNvGrpSpPr/>
              <p:nvPr/>
            </p:nvGrpSpPr>
            <p:grpSpPr>
              <a:xfrm>
                <a:off x="8439150" y="2514600"/>
                <a:ext cx="2876550" cy="1581150"/>
                <a:chOff x="8439150" y="2514600"/>
                <a:chExt cx="2876550" cy="1581150"/>
              </a:xfrm>
            </p:grpSpPr>
            <p:sp>
              <p:nvSpPr>
                <p:cNvPr id="58" name="Rectangle 58"/>
                <p:cNvSpPr/>
                <p:nvPr/>
              </p:nvSpPr>
              <p:spPr>
                <a:xfrm>
                  <a:off x="8439150" y="2514600"/>
                  <a:ext cx="1143000" cy="51435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lt1"/>
                </a:solidFill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8795537" y="2644140"/>
                  <a:ext cx="430225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idle</a:t>
                  </a:r>
                </a:p>
              </p:txBody>
            </p:sp>
            <p:sp>
              <p:nvSpPr>
                <p:cNvPr id="60" name="Rectangle 60"/>
                <p:cNvSpPr/>
                <p:nvPr/>
              </p:nvSpPr>
              <p:spPr>
                <a:xfrm>
                  <a:off x="10039350" y="2514600"/>
                  <a:ext cx="1200150" cy="51435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10254691" y="2644140"/>
                  <a:ext cx="769468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calling</a:t>
                  </a:r>
                </a:p>
              </p:txBody>
            </p:sp>
            <p:sp>
              <p:nvSpPr>
                <p:cNvPr id="62" name="Rectangle 62"/>
                <p:cNvSpPr/>
                <p:nvPr/>
              </p:nvSpPr>
              <p:spPr>
                <a:xfrm>
                  <a:off x="10001250" y="3581400"/>
                  <a:ext cx="1314450" cy="51435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lt1"/>
                </a:solidFill>
                <a:ln w="38100">
                  <a:solidFill>
                    <a:schemeClr val="accent3"/>
                  </a:solidFill>
                </a:ln>
              </p:spPr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10013252" y="3710940"/>
                  <a:ext cx="1290447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connecting</a:t>
                  </a:r>
                </a:p>
              </p:txBody>
            </p:sp>
            <p:sp>
              <p:nvSpPr>
                <p:cNvPr id="64" name="Rectangle 64"/>
                <p:cNvSpPr/>
                <p:nvPr/>
              </p:nvSpPr>
              <p:spPr>
                <a:xfrm>
                  <a:off x="8439150" y="3581400"/>
                  <a:ext cx="1257300" cy="51435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65" name="TextBox 65"/>
                <p:cNvSpPr txBox="1"/>
                <p:nvPr/>
              </p:nvSpPr>
              <p:spPr>
                <a:xfrm>
                  <a:off x="8458924" y="3710940"/>
                  <a:ext cx="1217752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rgbClr val="FFF9EE"/>
                      </a:solidFill>
                      <a:latin typeface="Consolas"/>
                      <a:ea typeface="Consolas"/>
                      <a:cs typeface="Consolas"/>
                    </a:rPr>
                    <a:t>connected</a:t>
                  </a:r>
                </a:p>
              </p:txBody>
            </p:sp>
          </p:grpSp>
          <p:grpSp>
            <p:nvGrpSpPr>
              <p:cNvPr id="71" name="Group 71"/>
              <p:cNvGrpSpPr/>
              <p:nvPr/>
            </p:nvGrpSpPr>
            <p:grpSpPr>
              <a:xfrm>
                <a:off x="8909050" y="2701925"/>
                <a:ext cx="1831975" cy="1136650"/>
                <a:chOff x="8909050" y="2701925"/>
                <a:chExt cx="1831975" cy="1136650"/>
              </a:xfrm>
            </p:grpSpPr>
            <p:sp>
              <p:nvSpPr>
                <p:cNvPr id="67" name="Freeform 67"/>
                <p:cNvSpPr/>
                <p:nvPr/>
              </p:nvSpPr>
              <p:spPr>
                <a:xfrm>
                  <a:off x="9601200" y="2701925"/>
                  <a:ext cx="4000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050" h="69850">
                      <a:moveTo>
                        <a:pt x="0" y="69850"/>
                      </a:moveTo>
                      <a:cubicBezTo>
                        <a:pt x="127000" y="0"/>
                        <a:pt x="260350" y="0"/>
                        <a:pt x="400050" y="69850"/>
                      </a:cubicBezTo>
                    </a:path>
                  </a:pathLst>
                </a:custGeom>
                <a:noFill/>
                <a:ln w="38100" cap="rnd">
                  <a:solidFill>
                    <a:schemeClr val="accent2"/>
                  </a:solidFill>
                  <a:tailEnd type="triangle" w="lg" len="lg"/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10639425" y="3067050"/>
                  <a:ext cx="101600" cy="47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476250">
                      <a:moveTo>
                        <a:pt x="0" y="0"/>
                      </a:moveTo>
                      <a:cubicBezTo>
                        <a:pt x="95250" y="152400"/>
                        <a:pt x="101600" y="311150"/>
                        <a:pt x="19050" y="476250"/>
                      </a:cubicBezTo>
                    </a:path>
                  </a:pathLst>
                </a:custGeom>
                <a:noFill/>
                <a:ln w="38100" cap="rnd">
                  <a:solidFill>
                    <a:schemeClr val="accent2"/>
                  </a:solidFill>
                  <a:tailEnd type="triangle" w="lg" len="lg"/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9734550" y="3768725"/>
                  <a:ext cx="22860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69850">
                      <a:moveTo>
                        <a:pt x="228600" y="69850"/>
                      </a:moveTo>
                      <a:cubicBezTo>
                        <a:pt x="152400" y="0"/>
                        <a:pt x="76200" y="0"/>
                        <a:pt x="0" y="69850"/>
                      </a:cubicBezTo>
                    </a:path>
                  </a:pathLst>
                </a:custGeom>
                <a:noFill/>
                <a:ln w="38100" cap="rnd">
                  <a:solidFill>
                    <a:schemeClr val="accent2"/>
                  </a:solidFill>
                  <a:tailEnd type="triangle" w="lg" len="lg"/>
                </a:ln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8909050" y="3067050"/>
                  <a:ext cx="101600" cy="47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476250">
                      <a:moveTo>
                        <a:pt x="101600" y="476250"/>
                      </a:moveTo>
                      <a:cubicBezTo>
                        <a:pt x="0" y="311150"/>
                        <a:pt x="0" y="152400"/>
                        <a:pt x="101600" y="0"/>
                      </a:cubicBezTo>
                    </a:path>
                  </a:pathLst>
                </a:custGeom>
                <a:noFill/>
                <a:ln w="38100" cap="rnd">
                  <a:solidFill>
                    <a:schemeClr val="accent2"/>
                  </a:solidFill>
                  <a:tailEnd type="triangle" w="lg" len="lg"/>
                </a:ln>
              </p:spPr>
            </p:sp>
          </p:grpSp>
          <p:sp>
            <p:nvSpPr>
              <p:cNvPr id="72" name="TextBox 72"/>
              <p:cNvSpPr txBox="1"/>
              <p:nvPr/>
            </p:nvSpPr>
            <p:spPr>
              <a:xfrm>
                <a:off x="8248193" y="4320540"/>
                <a:ext cx="31441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state.status 驱动界面切换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8368094" y="4698682"/>
                <a:ext cx="290436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拒接、挂断、断连都回到 idle</a:t>
                </a:r>
              </a:p>
            </p:txBody>
          </p:sp>
          <p:sp>
            <p:nvSpPr>
              <p:cNvPr id="74" name="Freeform 74"/>
              <p:cNvSpPr/>
              <p:nvPr/>
            </p:nvSpPr>
            <p:spPr>
              <a:xfrm>
                <a:off x="8439150" y="5181600"/>
                <a:ext cx="2838450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2838450" h="120650">
                    <a:moveTo>
                      <a:pt x="0" y="19050"/>
                    </a:moveTo>
                    <a:cubicBezTo>
                      <a:pt x="901700" y="120650"/>
                      <a:pt x="1847850" y="114300"/>
                      <a:pt x="2838450" y="0"/>
                    </a:cubicBezTo>
                  </a:path>
                </a:pathLst>
              </a:custGeom>
              <a:noFill/>
              <a:ln w="66675" cap="rnd">
                <a:solidFill>
                  <a:schemeClr val="accent3">
                    <a:alpha val="72000"/>
                  </a:schemeClr>
                </a:solidFill>
              </a:ln>
            </p:spPr>
          </p:sp>
        </p:grpSp>
      </p:grpSp>
      <p:grpSp>
        <p:nvGrpSpPr>
          <p:cNvPr id="79" name="Group 79"/>
          <p:cNvGrpSpPr/>
          <p:nvPr/>
        </p:nvGrpSpPr>
        <p:grpSpPr>
          <a:xfrm>
            <a:off x="609600" y="5848350"/>
            <a:ext cx="10972800" cy="521017"/>
            <a:chOff x="609600" y="5848350"/>
            <a:chExt cx="10972800" cy="521017"/>
          </a:xfrm>
        </p:grpSpPr>
        <p:sp>
          <p:nvSpPr>
            <p:cNvPr id="77" name="Rectangle 77"/>
            <p:cNvSpPr/>
            <p:nvPr/>
          </p:nvSpPr>
          <p:spPr>
            <a:xfrm>
              <a:off x="609600" y="5848350"/>
              <a:ext cx="10972800" cy="476250"/>
            </a:xfrm>
            <a:prstGeom prst="roundRect">
              <a:avLst>
                <a:gd name="adj" fmla="val 36000"/>
              </a:avLst>
            </a:prstGeom>
            <a:solidFill>
              <a:schemeClr val="accent3">
                <a:alpha val="42000"/>
              </a:schemeClr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26770" y="5929312"/>
              <a:ext cx="64470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Map 管</a:t>
              </a: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定位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，关系模型管</a:t>
              </a: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归属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，状态机管</a:t>
              </a: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变化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80" name="TextBox 80"/>
            <p:cNvSpPr txBox="1"/>
            <p:nvPr/>
          </p:nvSpPr>
          <p:spPr>
            <a:xfrm>
              <a:off x="603504" y="6480810"/>
              <a:ext cx="1377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DATA STRUCTURES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398606" y="64808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2950" y="571500"/>
            <a:ext cx="10763250" cy="5657850"/>
            <a:chOff x="742950" y="571500"/>
            <a:chExt cx="10763250" cy="5657850"/>
          </a:xfrm>
        </p:grpSpPr>
        <p:sp>
          <p:nvSpPr>
            <p:cNvPr id="2" name="Freeform 2"/>
            <p:cNvSpPr/>
            <p:nvPr/>
          </p:nvSpPr>
          <p:spPr>
            <a:xfrm>
              <a:off x="11163300" y="571500"/>
              <a:ext cx="342900" cy="139700"/>
            </a:xfrm>
            <a:custGeom>
              <a:avLst/>
              <a:gdLst/>
              <a:ahLst/>
              <a:cxnLst/>
              <a:rect l="l" t="t" r="r" b="b"/>
              <a:pathLst>
                <a:path w="342900" h="139700">
                  <a:moveTo>
                    <a:pt x="0" y="0"/>
                  </a:moveTo>
                  <a:cubicBezTo>
                    <a:pt x="114300" y="139700"/>
                    <a:pt x="228600" y="139700"/>
                    <a:pt x="342900" y="0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3" name="Freeform 3"/>
            <p:cNvSpPr/>
            <p:nvPr/>
          </p:nvSpPr>
          <p:spPr>
            <a:xfrm>
              <a:off x="11239500" y="742950"/>
              <a:ext cx="228600" cy="95250"/>
            </a:xfrm>
            <a:custGeom>
              <a:avLst/>
              <a:gdLst/>
              <a:ahLst/>
              <a:cxnLst/>
              <a:rect l="l" t="t" r="r" b="b"/>
              <a:pathLst>
                <a:path w="228600" h="95250">
                  <a:moveTo>
                    <a:pt x="0" y="95250"/>
                  </a:moveTo>
                  <a:lnTo>
                    <a:pt x="76200" y="0"/>
                  </a:lnTo>
                  <a:lnTo>
                    <a:pt x="152400" y="95250"/>
                  </a:lnTo>
                  <a:lnTo>
                    <a:pt x="228600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742950" y="6153150"/>
              <a:ext cx="514350" cy="76200"/>
            </a:xfrm>
            <a:custGeom>
              <a:avLst/>
              <a:gdLst/>
              <a:ahLst/>
              <a:cxnLst/>
              <a:rect l="l" t="t" r="r" b="b"/>
              <a:pathLst>
                <a:path w="514350" h="76200">
                  <a:moveTo>
                    <a:pt x="0" y="76200"/>
                  </a:moveTo>
                  <a:lnTo>
                    <a:pt x="171450" y="0"/>
                  </a:lnTo>
                  <a:lnTo>
                    <a:pt x="342900" y="76200"/>
                  </a:lnTo>
                  <a:lnTo>
                    <a:pt x="514350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90550" y="445770"/>
            <a:ext cx="9554596" cy="762000"/>
            <a:chOff x="590550" y="445770"/>
            <a:chExt cx="9554596" cy="762000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445770"/>
              <a:ext cx="955459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一条消息，为什么不能“收到就广播”？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628650" y="1031875"/>
              <a:ext cx="3829050" cy="73025"/>
            </a:xfrm>
            <a:custGeom>
              <a:avLst/>
              <a:gdLst/>
              <a:ahLst/>
              <a:cxnLst/>
              <a:rect l="l" t="t" r="r" b="b"/>
              <a:pathLst>
                <a:path w="3829050" h="73025">
                  <a:moveTo>
                    <a:pt x="0" y="63500"/>
                  </a:moveTo>
                  <a:cubicBezTo>
                    <a:pt x="1308100" y="0"/>
                    <a:pt x="2584450" y="3175"/>
                    <a:pt x="3829050" y="73025"/>
                  </a:cubicBezTo>
                </a:path>
              </a:pathLst>
            </a:custGeom>
            <a:noFill/>
            <a:ln w="57150" cap="rnd">
              <a:solidFill>
                <a:schemeClr val="accent2">
                  <a:alpha val="68000"/>
                </a:schemeClr>
              </a:solidFill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609600" y="1504950"/>
            <a:ext cx="10972800" cy="4000500"/>
            <a:chOff x="609600" y="1504950"/>
            <a:chExt cx="10972800" cy="4000500"/>
          </a:xfrm>
        </p:grpSpPr>
        <p:sp>
          <p:nvSpPr>
            <p:cNvPr id="9" name="Rectangle 9"/>
            <p:cNvSpPr/>
            <p:nvPr/>
          </p:nvSpPr>
          <p:spPr>
            <a:xfrm>
              <a:off x="609600" y="1581150"/>
              <a:ext cx="10972800" cy="1447800"/>
            </a:xfrm>
            <a:prstGeom prst="roundRect">
              <a:avLst>
                <a:gd name="adj" fmla="val 157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3352800"/>
              <a:ext cx="10972800" cy="2152650"/>
            </a:xfrm>
            <a:prstGeom prst="roundRect">
              <a:avLst>
                <a:gd name="adj" fmla="val 10619"/>
              </a:avLst>
            </a:prstGeom>
            <a:solidFill>
              <a:schemeClr val="lt1"/>
            </a:solidFill>
            <a:ln w="2857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9056" y="16916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056" y="3463290"/>
              <a:ext cx="17647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服务端 + 数据库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042416" y="2019300"/>
              <a:ext cx="1229868" cy="1034034"/>
              <a:chOff x="1042416" y="2019300"/>
              <a:chExt cx="1229868" cy="1034034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1257300" y="2019300"/>
                <a:ext cx="800100" cy="8001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466393" y="2252186"/>
                <a:ext cx="380314" cy="337128"/>
              </a:xfrm>
              <a:custGeom>
                <a:avLst/>
                <a:gdLst/>
                <a:ahLst/>
                <a:cxnLst/>
                <a:rect l="l" t="t" r="r" b="b"/>
                <a:pathLst>
                  <a:path w="380314" h="337128">
                    <a:moveTo>
                      <a:pt x="19507" y="319564"/>
                    </a:moveTo>
                    <a:lnTo>
                      <a:pt x="44272" y="245269"/>
                    </a:lnTo>
                    <a:cubicBezTo>
                      <a:pt x="0" y="179794"/>
                      <a:pt x="17107" y="95307"/>
                      <a:pt x="84277" y="47644"/>
                    </a:cubicBezTo>
                    <a:cubicBezTo>
                      <a:pt x="151448" y="0"/>
                      <a:pt x="247917" y="3905"/>
                      <a:pt x="309924" y="56788"/>
                    </a:cubicBezTo>
                    <a:cubicBezTo>
                      <a:pt x="371932" y="109690"/>
                      <a:pt x="380314" y="195205"/>
                      <a:pt x="329527" y="256832"/>
                    </a:cubicBezTo>
                    <a:cubicBezTo>
                      <a:pt x="278740" y="318459"/>
                      <a:pt x="184461" y="337128"/>
                      <a:pt x="109042" y="300514"/>
                    </a:cubicBezTo>
                    <a:lnTo>
                      <a:pt x="19507" y="319564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42416" y="27012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输入并提交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2781300" y="2076450"/>
              <a:ext cx="1809750" cy="697039"/>
              <a:chOff x="2781300" y="2076450"/>
              <a:chExt cx="1809750" cy="697039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2781300" y="2076450"/>
                <a:ext cx="1809750" cy="6858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922575" y="2174558"/>
                <a:ext cx="152720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message:send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861177" y="2450782"/>
                <a:ext cx="164999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Socket.IO 事件</a:t>
                </a:r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2095500" y="2343150"/>
              <a:ext cx="647700" cy="76200"/>
            </a:xfrm>
            <a:custGeom>
              <a:avLst/>
              <a:gdLst/>
              <a:ahLst/>
              <a:cxnLst/>
              <a:rect l="l" t="t" r="r" b="b"/>
              <a:pathLst>
                <a:path w="647700" h="76200">
                  <a:moveTo>
                    <a:pt x="0" y="76200"/>
                  </a:moveTo>
                  <a:cubicBezTo>
                    <a:pt x="203200" y="0"/>
                    <a:pt x="419100" y="0"/>
                    <a:pt x="647700" y="7620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2" name="Freeform 22"/>
            <p:cNvSpPr/>
            <p:nvPr/>
          </p:nvSpPr>
          <p:spPr>
            <a:xfrm>
              <a:off x="4629150" y="2419350"/>
              <a:ext cx="590550" cy="1200150"/>
            </a:xfrm>
            <a:custGeom>
              <a:avLst/>
              <a:gdLst/>
              <a:ahLst/>
              <a:cxnLst/>
              <a:rect l="l" t="t" r="r" b="b"/>
              <a:pathLst>
                <a:path w="590550" h="1200150">
                  <a:moveTo>
                    <a:pt x="0" y="0"/>
                  </a:moveTo>
                  <a:cubicBezTo>
                    <a:pt x="254000" y="241300"/>
                    <a:pt x="450850" y="641350"/>
                    <a:pt x="590550" y="120015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724400" y="3790950"/>
              <a:ext cx="2221821" cy="1249489"/>
              <a:chOff x="4724400" y="3790950"/>
              <a:chExt cx="2221821" cy="1249489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4724400" y="3790950"/>
                <a:ext cx="2019300" cy="1162050"/>
              </a:xfrm>
              <a:prstGeom prst="roundRect">
                <a:avLst>
                  <a:gd name="adj" fmla="val 16393"/>
                </a:avLst>
              </a:prstGeom>
              <a:solidFill>
                <a:schemeClr val="lt2"/>
              </a:solidFill>
              <a:ln w="38100">
                <a:solidFill>
                  <a:schemeClr val="accent2"/>
                </a:solidFill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4957965" y="4050506"/>
                <a:ext cx="313921" cy="300038"/>
                <a:chOff x="4957965" y="4050506"/>
                <a:chExt cx="313921" cy="300038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4957965" y="4050506"/>
                  <a:ext cx="313921" cy="300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921" h="300038">
                      <a:moveTo>
                        <a:pt x="156960" y="0"/>
                      </a:moveTo>
                      <a:cubicBezTo>
                        <a:pt x="195896" y="34447"/>
                        <a:pt x="246713" y="52383"/>
                        <a:pt x="298645" y="50006"/>
                      </a:cubicBezTo>
                      <a:cubicBezTo>
                        <a:pt x="313921" y="101972"/>
                        <a:pt x="307470" y="157910"/>
                        <a:pt x="280766" y="205034"/>
                      </a:cubicBezTo>
                      <a:cubicBezTo>
                        <a:pt x="254062" y="252158"/>
                        <a:pt x="209390" y="286438"/>
                        <a:pt x="156960" y="300038"/>
                      </a:cubicBezTo>
                      <a:cubicBezTo>
                        <a:pt x="104531" y="286438"/>
                        <a:pt x="59858" y="252158"/>
                        <a:pt x="33155" y="205034"/>
                      </a:cubicBezTo>
                      <a:cubicBezTo>
                        <a:pt x="6451" y="157910"/>
                        <a:pt x="0" y="101972"/>
                        <a:pt x="15276" y="50006"/>
                      </a:cubicBezTo>
                      <a:cubicBezTo>
                        <a:pt x="67208" y="52383"/>
                        <a:pt x="118025" y="34447"/>
                        <a:pt x="156960" y="0"/>
                      </a:cubicBezTo>
                    </a:path>
                  </a:pathLst>
                </a:custGeom>
                <a:noFill/>
                <a:ln w="33338">
                  <a:solidFill>
                    <a:schemeClr val="accent2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5098256" y="4167188"/>
                  <a:ext cx="33338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33338">
                      <a:moveTo>
                        <a:pt x="0" y="16669"/>
                      </a:moveTo>
                      <a:cubicBezTo>
                        <a:pt x="0" y="25875"/>
                        <a:pt x="7463" y="33338"/>
                        <a:pt x="16669" y="33338"/>
                      </a:cubicBezTo>
                      <a:cubicBezTo>
                        <a:pt x="25875" y="33338"/>
                        <a:pt x="33338" y="25875"/>
                        <a:pt x="33338" y="16669"/>
                      </a:cubicBezTo>
                      <a:cubicBezTo>
                        <a:pt x="33338" y="7463"/>
                        <a:pt x="25875" y="0"/>
                        <a:pt x="16669" y="0"/>
                      </a:cubicBezTo>
                      <a:cubicBezTo>
                        <a:pt x="7463" y="0"/>
                        <a:pt x="0" y="7463"/>
                        <a:pt x="0" y="16669"/>
                      </a:cubicBezTo>
                    </a:path>
                  </a:pathLst>
                </a:custGeom>
                <a:noFill/>
                <a:ln w="33338">
                  <a:solidFill>
                    <a:schemeClr val="accent2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5114925" y="4200525"/>
                  <a:ext cx="9525" cy="416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1672">
                      <a:moveTo>
                        <a:pt x="0" y="0"/>
                      </a:moveTo>
                      <a:lnTo>
                        <a:pt x="0" y="41672"/>
                      </a:lnTo>
                    </a:path>
                  </a:pathLst>
                </a:custGeom>
                <a:noFill/>
                <a:ln w="33338">
                  <a:solidFill>
                    <a:schemeClr val="accent2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5458206" y="407289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先做双重校验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963668" y="4451032"/>
                <a:ext cx="17604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① 是否为房间成员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963668" y="4717732"/>
                <a:ext cx="198255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② 是否处于禁言状态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2476500" y="5010150"/>
              <a:ext cx="2781300" cy="430339"/>
              <a:chOff x="2476500" y="5010150"/>
              <a:chExt cx="2781300" cy="430339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4400550" y="5010150"/>
                <a:ext cx="8572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857250" h="209550">
                    <a:moveTo>
                      <a:pt x="857250" y="0"/>
                    </a:moveTo>
                    <a:cubicBezTo>
                      <a:pt x="654050" y="139700"/>
                      <a:pt x="368300" y="209550"/>
                      <a:pt x="0" y="209550"/>
                    </a:cubicBezTo>
                  </a:path>
                </a:pathLst>
              </a:custGeom>
              <a:noFill/>
              <a:ln w="28575" cap="rnd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2476500" y="5010150"/>
                <a:ext cx="1847850" cy="419100"/>
              </a:xfrm>
              <a:prstGeom prst="roundRect">
                <a:avLst>
                  <a:gd name="adj" fmla="val 45455"/>
                </a:avLst>
              </a:prstGeom>
              <a:solidFill>
                <a:schemeClr val="accent2">
                  <a:alpha val="16000"/>
                </a:schemeClr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2503551" y="5117782"/>
                <a:ext cx="17937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不通过：拒绝发送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7181850" y="3790950"/>
              <a:ext cx="1695450" cy="1249489"/>
              <a:chOff x="7181850" y="3790950"/>
              <a:chExt cx="1695450" cy="1249489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181850" y="3790950"/>
                <a:ext cx="1695450" cy="1162050"/>
              </a:xfrm>
              <a:prstGeom prst="roundRect">
                <a:avLst>
                  <a:gd name="adj" fmla="val 16393"/>
                </a:avLst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7867650" y="4019550"/>
                <a:ext cx="304800" cy="342900"/>
                <a:chOff x="7867650" y="4019550"/>
                <a:chExt cx="304800" cy="342900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7867650" y="4019550"/>
                  <a:ext cx="3048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114300">
                      <a:moveTo>
                        <a:pt x="0" y="57150"/>
                      </a:moveTo>
                      <a:cubicBezTo>
                        <a:pt x="0" y="88713"/>
                        <a:pt x="68232" y="114300"/>
                        <a:pt x="152400" y="114300"/>
                      </a:cubicBezTo>
                      <a:cubicBezTo>
                        <a:pt x="236568" y="114300"/>
                        <a:pt x="304800" y="88713"/>
                        <a:pt x="304800" y="57150"/>
                      </a:cubicBezTo>
                      <a:cubicBezTo>
                        <a:pt x="304800" y="25587"/>
                        <a:pt x="236568" y="0"/>
                        <a:pt x="152400" y="0"/>
                      </a:cubicBezTo>
                      <a:cubicBezTo>
                        <a:pt x="68232" y="0"/>
                        <a:pt x="0" y="25587"/>
                        <a:pt x="0" y="57150"/>
                      </a:cubicBezTo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7867650" y="4076700"/>
                  <a:ext cx="30480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171450">
                      <a:moveTo>
                        <a:pt x="0" y="0"/>
                      </a:moveTo>
                      <a:lnTo>
                        <a:pt x="0" y="114300"/>
                      </a:lnTo>
                      <a:cubicBezTo>
                        <a:pt x="0" y="145863"/>
                        <a:pt x="68232" y="171450"/>
                        <a:pt x="152400" y="171450"/>
                      </a:cubicBezTo>
                      <a:cubicBezTo>
                        <a:pt x="236568" y="171450"/>
                        <a:pt x="304800" y="145863"/>
                        <a:pt x="304800" y="114300"/>
                      </a:cubicBezTo>
                      <a:lnTo>
                        <a:pt x="304800" y="0"/>
                      </a:lnTo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867650" y="4191000"/>
                  <a:ext cx="30480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171450">
                      <a:moveTo>
                        <a:pt x="0" y="0"/>
                      </a:moveTo>
                      <a:lnTo>
                        <a:pt x="0" y="114300"/>
                      </a:lnTo>
                      <a:cubicBezTo>
                        <a:pt x="0" y="145863"/>
                        <a:pt x="68232" y="171450"/>
                        <a:pt x="152400" y="171450"/>
                      </a:cubicBezTo>
                      <a:cubicBezTo>
                        <a:pt x="236568" y="171450"/>
                        <a:pt x="304800" y="145863"/>
                        <a:pt x="304800" y="114300"/>
                      </a:cubicBezTo>
                      <a:lnTo>
                        <a:pt x="304800" y="0"/>
                      </a:lnTo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7218292" y="4453890"/>
                <a:ext cx="162256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Message 入库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354824" y="4717732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保留聊天记录</a:t>
                </a:r>
              </a:p>
            </p:txBody>
          </p:sp>
        </p:grpSp>
        <p:sp>
          <p:nvSpPr>
            <p:cNvPr id="44" name="Freeform 44"/>
            <p:cNvSpPr/>
            <p:nvPr/>
          </p:nvSpPr>
          <p:spPr>
            <a:xfrm>
              <a:off x="6781800" y="4286250"/>
              <a:ext cx="361950" cy="76200"/>
            </a:xfrm>
            <a:custGeom>
              <a:avLst/>
              <a:gdLst/>
              <a:ahLst/>
              <a:cxnLst/>
              <a:rect l="l" t="t" r="r" b="b"/>
              <a:pathLst>
                <a:path w="361950" h="76200">
                  <a:moveTo>
                    <a:pt x="0" y="76200"/>
                  </a:moveTo>
                  <a:cubicBezTo>
                    <a:pt x="114300" y="0"/>
                    <a:pt x="234950" y="0"/>
                    <a:pt x="361950" y="762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9315450" y="3790950"/>
              <a:ext cx="2038350" cy="1249489"/>
              <a:chOff x="9315450" y="3790950"/>
              <a:chExt cx="2038350" cy="1249489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9315450" y="3790950"/>
                <a:ext cx="2038350" cy="1162050"/>
              </a:xfrm>
              <a:prstGeom prst="roundRect">
                <a:avLst>
                  <a:gd name="adj" fmla="val 16393"/>
                </a:avLst>
              </a:prstGeom>
              <a:solidFill>
                <a:schemeClr val="accent3">
                  <a:alpha val="52000"/>
                </a:schemeClr>
              </a:solidFill>
              <a:ln w="28575">
                <a:solidFill>
                  <a:schemeClr val="accent2"/>
                </a:solidFill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9555956" y="4100512"/>
                <a:ext cx="300037" cy="200025"/>
                <a:chOff x="9555956" y="4100512"/>
                <a:chExt cx="300037" cy="200025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9622631" y="4100512"/>
                  <a:ext cx="233362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66675">
                      <a:moveTo>
                        <a:pt x="0" y="66675"/>
                      </a:moveTo>
                      <a:lnTo>
                        <a:pt x="233362" y="66675"/>
                      </a:lnTo>
                      <a:lnTo>
                        <a:pt x="166688" y="0"/>
                      </a:lnTo>
                    </a:path>
                  </a:pathLst>
                </a:custGeom>
                <a:noFill/>
                <a:ln w="33338">
                  <a:solidFill>
                    <a:schemeClr val="accent2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9555956" y="4233862"/>
                  <a:ext cx="233362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66675">
                      <a:moveTo>
                        <a:pt x="233362" y="0"/>
                      </a:moveTo>
                      <a:lnTo>
                        <a:pt x="0" y="0"/>
                      </a:lnTo>
                      <a:lnTo>
                        <a:pt x="66675" y="66675"/>
                      </a:lnTo>
                    </a:path>
                  </a:pathLst>
                </a:custGeom>
                <a:noFill/>
                <a:ln w="33338">
                  <a:solidFill>
                    <a:schemeClr val="accent2"/>
                  </a:solidFill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10049256" y="40728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按房间广播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609896" y="4451032"/>
                <a:ext cx="144945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message:new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504388" y="4717732"/>
                <a:ext cx="166047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io.to(room:id)</a:t>
                </a:r>
              </a:p>
            </p:txBody>
          </p:sp>
        </p:grpSp>
        <p:sp>
          <p:nvSpPr>
            <p:cNvPr id="53" name="Freeform 53"/>
            <p:cNvSpPr/>
            <p:nvPr/>
          </p:nvSpPr>
          <p:spPr>
            <a:xfrm>
              <a:off x="8915400" y="4286250"/>
              <a:ext cx="361950" cy="76200"/>
            </a:xfrm>
            <a:custGeom>
              <a:avLst/>
              <a:gdLst/>
              <a:ahLst/>
              <a:cxnLst/>
              <a:rect l="l" t="t" r="r" b="b"/>
              <a:pathLst>
                <a:path w="361950" h="76200">
                  <a:moveTo>
                    <a:pt x="0" y="76200"/>
                  </a:moveTo>
                  <a:cubicBezTo>
                    <a:pt x="114300" y="0"/>
                    <a:pt x="234950" y="0"/>
                    <a:pt x="361950" y="7620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8934507" y="1962150"/>
              <a:ext cx="2552586" cy="914400"/>
              <a:chOff x="8934507" y="1962150"/>
              <a:chExt cx="2552586" cy="91440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9067800" y="1962150"/>
                <a:ext cx="2286000" cy="914400"/>
              </a:xfrm>
              <a:prstGeom prst="roundRect">
                <a:avLst>
                  <a:gd name="adj" fmla="val 20833"/>
                </a:avLst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9329016" y="2129790"/>
                <a:ext cx="176356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store 追加消息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934507" y="2450782"/>
                <a:ext cx="25525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MessageList 响应式刷新</a:t>
                </a:r>
              </a:p>
            </p:txBody>
          </p:sp>
        </p:grpSp>
        <p:sp>
          <p:nvSpPr>
            <p:cNvPr id="58" name="Freeform 58"/>
            <p:cNvSpPr/>
            <p:nvPr/>
          </p:nvSpPr>
          <p:spPr>
            <a:xfrm>
              <a:off x="10334625" y="2914650"/>
              <a:ext cx="238125" cy="838200"/>
            </a:xfrm>
            <a:custGeom>
              <a:avLst/>
              <a:gdLst/>
              <a:ahLst/>
              <a:cxnLst/>
              <a:rect l="l" t="t" r="r" b="b"/>
              <a:pathLst>
                <a:path w="238125" h="838200">
                  <a:moveTo>
                    <a:pt x="0" y="838200"/>
                  </a:moveTo>
                  <a:cubicBezTo>
                    <a:pt x="222250" y="584200"/>
                    <a:pt x="238125" y="304800"/>
                    <a:pt x="47625" y="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1009650" y="1504950"/>
              <a:ext cx="8401050" cy="2421065"/>
              <a:chOff x="1009650" y="1504950"/>
              <a:chExt cx="8401050" cy="2421065"/>
            </a:xfrm>
          </p:grpSpPr>
          <p:sp>
            <p:nvSpPr>
              <p:cNvPr id="59" name="Ellipse 59"/>
              <p:cNvSpPr/>
              <p:nvPr/>
            </p:nvSpPr>
            <p:spPr>
              <a:xfrm>
                <a:off x="1009650" y="150495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1108580" y="156495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9EE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61" name="Ellipse 61"/>
              <p:cNvSpPr/>
              <p:nvPr/>
            </p:nvSpPr>
            <p:spPr>
              <a:xfrm>
                <a:off x="2552700" y="1790700"/>
                <a:ext cx="342900" cy="3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2651630" y="185070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9EE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63" name="Ellipse 63"/>
              <p:cNvSpPr/>
              <p:nvPr/>
            </p:nvSpPr>
            <p:spPr>
              <a:xfrm>
                <a:off x="4476750" y="3543300"/>
                <a:ext cx="342900" cy="3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4575680" y="360330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9EE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65" name="Ellipse 65"/>
              <p:cNvSpPr/>
              <p:nvPr/>
            </p:nvSpPr>
            <p:spPr>
              <a:xfrm>
                <a:off x="6934200" y="35433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7033130" y="360330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9EE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67" name="Ellipse 67"/>
              <p:cNvSpPr/>
              <p:nvPr/>
            </p:nvSpPr>
            <p:spPr>
              <a:xfrm>
                <a:off x="9067800" y="3543300"/>
                <a:ext cx="342900" cy="3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9166730" y="360330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9EE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69" name="Ellipse 69"/>
              <p:cNvSpPr/>
              <p:nvPr/>
            </p:nvSpPr>
            <p:spPr>
              <a:xfrm>
                <a:off x="8820150" y="17145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8919080" y="177450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9EE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609600" y="5848350"/>
            <a:ext cx="10972800" cy="521017"/>
            <a:chOff x="609600" y="5848350"/>
            <a:chExt cx="10972800" cy="521017"/>
          </a:xfrm>
        </p:grpSpPr>
        <p:sp>
          <p:nvSpPr>
            <p:cNvPr id="73" name="Rectangle 73"/>
            <p:cNvSpPr/>
            <p:nvPr/>
          </p:nvSpPr>
          <p:spPr>
            <a:xfrm>
              <a:off x="609600" y="5848350"/>
              <a:ext cx="10972800" cy="476250"/>
            </a:xfrm>
            <a:prstGeom prst="roundRect">
              <a:avLst>
                <a:gd name="adj" fmla="val 3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26770" y="5929312"/>
              <a:ext cx="83267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核心顺序：</a:t>
              </a: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先校验 → 再落库 → 后广播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，前后端共同守住规则。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76" name="TextBox 76"/>
            <p:cNvSpPr txBox="1"/>
            <p:nvPr/>
          </p:nvSpPr>
          <p:spPr>
            <a:xfrm>
              <a:off x="603504" y="6480810"/>
              <a:ext cx="1198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MESSAGE FLOW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398606" y="64808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2950" y="457200"/>
            <a:ext cx="10782300" cy="5886450"/>
            <a:chOff x="742950" y="457200"/>
            <a:chExt cx="10782300" cy="5886450"/>
          </a:xfrm>
        </p:grpSpPr>
        <p:sp>
          <p:nvSpPr>
            <p:cNvPr id="2" name="Freeform 2"/>
            <p:cNvSpPr/>
            <p:nvPr/>
          </p:nvSpPr>
          <p:spPr>
            <a:xfrm>
              <a:off x="11144250" y="520700"/>
              <a:ext cx="381000" cy="177800"/>
            </a:xfrm>
            <a:custGeom>
              <a:avLst/>
              <a:gdLst/>
              <a:ahLst/>
              <a:cxnLst/>
              <a:rect l="l" t="t" r="r" b="b"/>
              <a:pathLst>
                <a:path w="381000" h="177800">
                  <a:moveTo>
                    <a:pt x="0" y="88900"/>
                  </a:moveTo>
                  <a:cubicBezTo>
                    <a:pt x="127000" y="0"/>
                    <a:pt x="254000" y="0"/>
                    <a:pt x="381000" y="88900"/>
                  </a:cubicBezTo>
                  <a:cubicBezTo>
                    <a:pt x="254000" y="177800"/>
                    <a:pt x="127000" y="177800"/>
                    <a:pt x="0" y="88900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3" name="Freeform 3"/>
            <p:cNvSpPr/>
            <p:nvPr/>
          </p:nvSpPr>
          <p:spPr>
            <a:xfrm>
              <a:off x="11334750" y="45720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742950" y="6115050"/>
              <a:ext cx="685800" cy="228600"/>
            </a:xfrm>
            <a:custGeom>
              <a:avLst/>
              <a:gdLst/>
              <a:ahLst/>
              <a:cxnLst/>
              <a:rect l="l" t="t" r="r" b="b"/>
              <a:pathLst>
                <a:path w="685800" h="228600">
                  <a:moveTo>
                    <a:pt x="0" y="114300"/>
                  </a:moveTo>
                  <a:cubicBezTo>
                    <a:pt x="114300" y="0"/>
                    <a:pt x="228600" y="0"/>
                    <a:pt x="342900" y="114300"/>
                  </a:cubicBezTo>
                  <a:cubicBezTo>
                    <a:pt x="457200" y="228600"/>
                    <a:pt x="571500" y="228600"/>
                    <a:pt x="685800" y="114300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90550" y="445770"/>
            <a:ext cx="10174216" cy="762000"/>
            <a:chOff x="590550" y="445770"/>
            <a:chExt cx="10174216" cy="762000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445770"/>
              <a:ext cx="1017421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语音通话：信令协调，音频走 P2P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628650" y="1031875"/>
              <a:ext cx="3600450" cy="73025"/>
            </a:xfrm>
            <a:custGeom>
              <a:avLst/>
              <a:gdLst/>
              <a:ahLst/>
              <a:cxnLst/>
              <a:rect l="l" t="t" r="r" b="b"/>
              <a:pathLst>
                <a:path w="3600450" h="73025">
                  <a:moveTo>
                    <a:pt x="0" y="63500"/>
                  </a:moveTo>
                  <a:cubicBezTo>
                    <a:pt x="1219200" y="0"/>
                    <a:pt x="2419350" y="3175"/>
                    <a:pt x="3600450" y="73025"/>
                  </a:cubicBezTo>
                </a:path>
              </a:pathLst>
            </a:custGeom>
            <a:noFill/>
            <a:ln w="57150" cap="rnd">
              <a:solidFill>
                <a:schemeClr val="accent2">
                  <a:alpha val="68000"/>
                </a:schemeClr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9600" y="1466850"/>
            <a:ext cx="4095750" cy="4191000"/>
            <a:chOff x="609600" y="1466850"/>
            <a:chExt cx="4095750" cy="4191000"/>
          </a:xfrm>
        </p:grpSpPr>
        <p:sp>
          <p:nvSpPr>
            <p:cNvPr id="9" name="Rectangle 9"/>
            <p:cNvSpPr/>
            <p:nvPr/>
          </p:nvSpPr>
          <p:spPr>
            <a:xfrm>
              <a:off x="609600" y="1466850"/>
              <a:ext cx="4095750" cy="4191000"/>
            </a:xfrm>
            <a:prstGeom prst="roundRect">
              <a:avLst>
                <a:gd name="adj" fmla="val 5581"/>
              </a:avLst>
            </a:prstGeom>
            <a:solidFill>
              <a:schemeClr val="lt2"/>
            </a:solidFill>
            <a:ln w="2857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056" y="16154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运行结果：完整通话界面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00100" y="1981200"/>
              <a:ext cx="3714750" cy="3238500"/>
            </a:xfrm>
            <a:prstGeom prst="roundRect">
              <a:avLst>
                <a:gd name="adj" fmla="val 4706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0876" y="2114550"/>
              <a:ext cx="3093197" cy="2971800"/>
            </a:xfrm>
            <a:prstGeom prst="rect">
              <a:avLst/>
            </a:prstGeom>
          </p:spPr>
        </p:pic>
        <p:sp>
          <p:nvSpPr>
            <p:cNvPr id="13" name="Rectangle 13"/>
            <p:cNvSpPr/>
            <p:nvPr/>
          </p:nvSpPr>
          <p:spPr>
            <a:xfrm>
              <a:off x="1123950" y="5257800"/>
              <a:ext cx="3067050" cy="266700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alpha val="72000"/>
              </a:scheme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77439" y="5289232"/>
              <a:ext cx="2560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接听 · 静音 · 计时 · 挂断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181600" y="1504950"/>
            <a:ext cx="6263549" cy="3859339"/>
            <a:chOff x="5181600" y="1504950"/>
            <a:chExt cx="6263549" cy="3859339"/>
          </a:xfrm>
        </p:grpSpPr>
        <p:grpSp>
          <p:nvGrpSpPr>
            <p:cNvPr id="41" name="Group 41"/>
            <p:cNvGrpSpPr/>
            <p:nvPr/>
          </p:nvGrpSpPr>
          <p:grpSpPr>
            <a:xfrm>
              <a:off x="5181600" y="1504950"/>
              <a:ext cx="6263549" cy="1211389"/>
              <a:chOff x="5181600" y="1504950"/>
              <a:chExt cx="6263549" cy="1211389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5181600" y="1657350"/>
                <a:ext cx="1676400" cy="895350"/>
              </a:xfrm>
              <a:prstGeom prst="roundRect">
                <a:avLst>
                  <a:gd name="adj" fmla="val 23404"/>
                </a:avLst>
              </a:prstGeom>
              <a:solidFill>
                <a:schemeClr val="lt2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5441156" y="1935956"/>
                <a:ext cx="300038" cy="300038"/>
                <a:chOff x="5441156" y="1935956"/>
                <a:chExt cx="300038" cy="300038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5474494" y="1935956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66675"/>
                      </a:moveTo>
                      <a:cubicBezTo>
                        <a:pt x="0" y="103499"/>
                        <a:pt x="29851" y="133350"/>
                        <a:pt x="66675" y="133350"/>
                      </a:cubicBezTo>
                      <a:cubicBezTo>
                        <a:pt x="103499" y="133350"/>
                        <a:pt x="133350" y="103499"/>
                        <a:pt x="133350" y="66675"/>
                      </a:cubicBezTo>
                      <a:cubicBezTo>
                        <a:pt x="133350" y="29851"/>
                        <a:pt x="103499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5441156" y="2135981"/>
                  <a:ext cx="2000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00012">
                      <a:moveTo>
                        <a:pt x="0" y="100012"/>
                      </a:moveTo>
                      <a:lnTo>
                        <a:pt x="0" y="66675"/>
                      </a:lnTo>
                      <a:cubicBezTo>
                        <a:pt x="0" y="29851"/>
                        <a:pt x="29851" y="0"/>
                        <a:pt x="66675" y="0"/>
                      </a:cubicBezTo>
                      <a:lnTo>
                        <a:pt x="133350" y="0"/>
                      </a:lnTo>
                      <a:cubicBezTo>
                        <a:pt x="170174" y="0"/>
                        <a:pt x="200025" y="29851"/>
                        <a:pt x="200025" y="66675"/>
                      </a:cubicBezTo>
                      <a:lnTo>
                        <a:pt x="200025" y="100012"/>
                      </a:ln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5657850" y="1938123"/>
                  <a:ext cx="50137" cy="129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37" h="129183">
                      <a:moveTo>
                        <a:pt x="0" y="0"/>
                      </a:moveTo>
                      <a:cubicBezTo>
                        <a:pt x="29502" y="7554"/>
                        <a:pt x="50137" y="34137"/>
                        <a:pt x="50137" y="64591"/>
                      </a:cubicBezTo>
                      <a:cubicBezTo>
                        <a:pt x="50137" y="95045"/>
                        <a:pt x="29502" y="121629"/>
                        <a:pt x="0" y="129183"/>
                      </a:cubicBez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5691188" y="2138482"/>
                  <a:ext cx="50006" cy="975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06" h="97512">
                      <a:moveTo>
                        <a:pt x="50006" y="97512"/>
                      </a:moveTo>
                      <a:lnTo>
                        <a:pt x="50006" y="64175"/>
                      </a:lnTo>
                      <a:cubicBezTo>
                        <a:pt x="49832" y="33914"/>
                        <a:pt x="29301" y="7565"/>
                        <a:pt x="0" y="0"/>
                      </a:cubicBez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5915406" y="1958340"/>
                <a:ext cx="101489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呼叫方 A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313712" y="2241232"/>
                <a:ext cx="141217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createOffer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9696450" y="1657350"/>
                <a:ext cx="1676400" cy="895350"/>
              </a:xfrm>
              <a:prstGeom prst="roundRect">
                <a:avLst>
                  <a:gd name="adj" fmla="val 23404"/>
                </a:avLst>
              </a:prstGeom>
              <a:solidFill>
                <a:schemeClr val="lt2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9956006" y="1935956"/>
                <a:ext cx="300038" cy="300038"/>
                <a:chOff x="9956006" y="1935956"/>
                <a:chExt cx="300038" cy="300038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9989344" y="1935956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66675"/>
                      </a:moveTo>
                      <a:cubicBezTo>
                        <a:pt x="0" y="103499"/>
                        <a:pt x="29851" y="133350"/>
                        <a:pt x="66675" y="133350"/>
                      </a:cubicBezTo>
                      <a:cubicBezTo>
                        <a:pt x="103499" y="133350"/>
                        <a:pt x="133350" y="103499"/>
                        <a:pt x="133350" y="66675"/>
                      </a:cubicBezTo>
                      <a:cubicBezTo>
                        <a:pt x="133350" y="29851"/>
                        <a:pt x="103499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9956006" y="2135981"/>
                  <a:ext cx="2000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00012">
                      <a:moveTo>
                        <a:pt x="0" y="100012"/>
                      </a:moveTo>
                      <a:lnTo>
                        <a:pt x="0" y="66675"/>
                      </a:lnTo>
                      <a:cubicBezTo>
                        <a:pt x="0" y="29851"/>
                        <a:pt x="29851" y="0"/>
                        <a:pt x="66675" y="0"/>
                      </a:cubicBezTo>
                      <a:lnTo>
                        <a:pt x="133350" y="0"/>
                      </a:lnTo>
                      <a:cubicBezTo>
                        <a:pt x="170174" y="0"/>
                        <a:pt x="200025" y="29851"/>
                        <a:pt x="200025" y="66675"/>
                      </a:cubicBezTo>
                      <a:lnTo>
                        <a:pt x="200025" y="100012"/>
                      </a:ln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10172700" y="1938123"/>
                  <a:ext cx="50137" cy="129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37" h="129183">
                      <a:moveTo>
                        <a:pt x="0" y="0"/>
                      </a:moveTo>
                      <a:cubicBezTo>
                        <a:pt x="29502" y="7554"/>
                        <a:pt x="50137" y="34137"/>
                        <a:pt x="50137" y="64591"/>
                      </a:cubicBezTo>
                      <a:cubicBezTo>
                        <a:pt x="50137" y="95045"/>
                        <a:pt x="29502" y="121629"/>
                        <a:pt x="0" y="129183"/>
                      </a:cubicBez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10206038" y="2138482"/>
                  <a:ext cx="50006" cy="975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06" h="97512">
                      <a:moveTo>
                        <a:pt x="50006" y="97512"/>
                      </a:moveTo>
                      <a:lnTo>
                        <a:pt x="50006" y="64175"/>
                      </a:lnTo>
                      <a:cubicBezTo>
                        <a:pt x="49832" y="33914"/>
                        <a:pt x="29301" y="7565"/>
                        <a:pt x="0" y="0"/>
                      </a:cubicBezTo>
                    </a:path>
                  </a:pathLst>
                </a:custGeom>
                <a:noFill/>
                <a:ln w="33338">
                  <a:solidFill>
                    <a:schemeClr val="accent1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10430256" y="1958340"/>
                <a:ext cx="101489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被叫方 B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767487" y="2241232"/>
                <a:ext cx="15343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createAnswer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7524750" y="1504950"/>
                <a:ext cx="1752600" cy="1200150"/>
              </a:xfrm>
              <a:prstGeom prst="roundRect">
                <a:avLst>
                  <a:gd name="adj" fmla="val 17460"/>
                </a:avLst>
              </a:prstGeom>
              <a:solidFill>
                <a:schemeClr val="lt1"/>
              </a:solidFill>
              <a:ln w="38100">
                <a:solidFill>
                  <a:schemeClr val="accent2"/>
                </a:solidFill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7784306" y="1781175"/>
                <a:ext cx="300038" cy="266700"/>
                <a:chOff x="7784306" y="1781175"/>
                <a:chExt cx="300038" cy="26670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7784306" y="1781175"/>
                  <a:ext cx="300038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133350">
                      <a:moveTo>
                        <a:pt x="0" y="50006"/>
                      </a:moveTo>
                      <a:cubicBezTo>
                        <a:pt x="0" y="22389"/>
                        <a:pt x="22389" y="0"/>
                        <a:pt x="50006" y="0"/>
                      </a:cubicBezTo>
                      <a:lnTo>
                        <a:pt x="250031" y="0"/>
                      </a:lnTo>
                      <a:cubicBezTo>
                        <a:pt x="277649" y="0"/>
                        <a:pt x="300038" y="22389"/>
                        <a:pt x="300038" y="50006"/>
                      </a:cubicBezTo>
                      <a:lnTo>
                        <a:pt x="300038" y="83344"/>
                      </a:lnTo>
                      <a:cubicBezTo>
                        <a:pt x="300038" y="110961"/>
                        <a:pt x="277649" y="133350"/>
                        <a:pt x="250031" y="133350"/>
                      </a:cubicBezTo>
                      <a:lnTo>
                        <a:pt x="50006" y="133350"/>
                      </a:lnTo>
                      <a:cubicBezTo>
                        <a:pt x="22389" y="133350"/>
                        <a:pt x="0" y="110961"/>
                        <a:pt x="0" y="83344"/>
                      </a:cubicBezTo>
                      <a:lnTo>
                        <a:pt x="0" y="50006"/>
                      </a:lnTo>
                    </a:path>
                  </a:pathLst>
                </a:custGeom>
                <a:noFill/>
                <a:ln w="33338">
                  <a:solidFill>
                    <a:schemeClr val="accent2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7784306" y="1914525"/>
                  <a:ext cx="300038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133350">
                      <a:moveTo>
                        <a:pt x="0" y="50006"/>
                      </a:moveTo>
                      <a:cubicBezTo>
                        <a:pt x="0" y="22389"/>
                        <a:pt x="22389" y="0"/>
                        <a:pt x="50006" y="0"/>
                      </a:cubicBezTo>
                      <a:lnTo>
                        <a:pt x="250031" y="0"/>
                      </a:lnTo>
                      <a:cubicBezTo>
                        <a:pt x="277649" y="0"/>
                        <a:pt x="300038" y="22389"/>
                        <a:pt x="300038" y="50006"/>
                      </a:cubicBezTo>
                      <a:lnTo>
                        <a:pt x="300038" y="83344"/>
                      </a:lnTo>
                      <a:cubicBezTo>
                        <a:pt x="300038" y="110961"/>
                        <a:pt x="277649" y="133350"/>
                        <a:pt x="250031" y="133350"/>
                      </a:cubicBezTo>
                      <a:lnTo>
                        <a:pt x="50006" y="133350"/>
                      </a:lnTo>
                      <a:cubicBezTo>
                        <a:pt x="22389" y="133350"/>
                        <a:pt x="0" y="110961"/>
                        <a:pt x="0" y="83344"/>
                      </a:cubicBezTo>
                      <a:lnTo>
                        <a:pt x="0" y="50006"/>
                      </a:lnTo>
                    </a:path>
                  </a:pathLst>
                </a:custGeom>
                <a:noFill/>
                <a:ln w="33338">
                  <a:solidFill>
                    <a:schemeClr val="accent2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7850981" y="18478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67"/>
                      </a:lnTo>
                    </a:path>
                  </a:pathLst>
                </a:custGeom>
                <a:noFill/>
                <a:ln w="33338">
                  <a:solidFill>
                    <a:schemeClr val="accent2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7850981" y="19812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67"/>
                      </a:lnTo>
                    </a:path>
                  </a:pathLst>
                </a:custGeom>
                <a:noFill/>
                <a:ln w="33338">
                  <a:solidFill>
                    <a:schemeClr val="accent2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8277606" y="1786890"/>
                <a:ext cx="129146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Socket.IO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726299" y="2126932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转发通话信令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274202" y="2393632"/>
                <a:ext cx="225369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offer / answer / ICE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896100" y="1822450"/>
              <a:ext cx="2762250" cy="654050"/>
              <a:chOff x="6896100" y="1822450"/>
              <a:chExt cx="2762250" cy="65405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896100" y="1822450"/>
                <a:ext cx="59055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590550" h="101600">
                    <a:moveTo>
                      <a:pt x="0" y="101600"/>
                    </a:moveTo>
                    <a:cubicBezTo>
                      <a:pt x="190500" y="0"/>
                      <a:pt x="387350" y="0"/>
                      <a:pt x="590550" y="101600"/>
                    </a:cubicBezTo>
                  </a:path>
                </a:pathLst>
              </a:custGeom>
              <a:noFill/>
              <a:ln w="38100" cap="rnd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315450" y="1822450"/>
                <a:ext cx="342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01600">
                    <a:moveTo>
                      <a:pt x="0" y="101600"/>
                    </a:moveTo>
                    <a:cubicBezTo>
                      <a:pt x="127000" y="0"/>
                      <a:pt x="241300" y="0"/>
                      <a:pt x="342900" y="101600"/>
                    </a:cubicBezTo>
                  </a:path>
                </a:pathLst>
              </a:custGeom>
              <a:noFill/>
              <a:ln w="38100" cap="rnd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315450" y="2362200"/>
                <a:ext cx="3429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14300">
                    <a:moveTo>
                      <a:pt x="342900" y="0"/>
                    </a:moveTo>
                    <a:cubicBezTo>
                      <a:pt x="215900" y="114300"/>
                      <a:pt x="101600" y="114300"/>
                      <a:pt x="0" y="0"/>
                    </a:cubicBezTo>
                  </a:path>
                </a:pathLst>
              </a:custGeom>
              <a:noFill/>
              <a:ln w="38100" cap="rnd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896100" y="2362200"/>
                <a:ext cx="5905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590550" h="114300">
                    <a:moveTo>
                      <a:pt x="590550" y="0"/>
                    </a:moveTo>
                    <a:cubicBezTo>
                      <a:pt x="387350" y="114300"/>
                      <a:pt x="190500" y="114300"/>
                      <a:pt x="0" y="0"/>
                    </a:cubicBezTo>
                  </a:path>
                </a:pathLst>
              </a:custGeom>
              <a:noFill/>
              <a:ln w="38100" cap="rnd">
                <a:solidFill>
                  <a:schemeClr val="accent2"/>
                </a:solidFill>
                <a:tailEnd type="triangle" w="lg" len="lg"/>
              </a:ln>
            </p:spPr>
          </p:sp>
        </p:grpSp>
        <p:grpSp>
          <p:nvGrpSpPr>
            <p:cNvPr id="51" name="Group 51"/>
            <p:cNvGrpSpPr/>
            <p:nvPr/>
          </p:nvGrpSpPr>
          <p:grpSpPr>
            <a:xfrm>
              <a:off x="5981700" y="2781300"/>
              <a:ext cx="5170837" cy="889000"/>
              <a:chOff x="5981700" y="2781300"/>
              <a:chExt cx="5170837" cy="8890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5981700" y="2781300"/>
                <a:ext cx="457200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781050">
                    <a:moveTo>
                      <a:pt x="0" y="0"/>
                    </a:moveTo>
                    <a:cubicBezTo>
                      <a:pt x="857250" y="781050"/>
                      <a:pt x="3714750" y="781050"/>
                      <a:pt x="4572000" y="0"/>
                    </a:cubicBezTo>
                  </a:path>
                </a:pathLst>
              </a:custGeom>
              <a:noFill/>
              <a:ln w="66675" cap="rnd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077200" y="3162300"/>
                <a:ext cx="32385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323850">
                    <a:moveTo>
                      <a:pt x="38100" y="0"/>
                    </a:moveTo>
                    <a:lnTo>
                      <a:pt x="114300" y="0"/>
                    </a:lnTo>
                    <a:lnTo>
                      <a:pt x="152400" y="95250"/>
                    </a:lnTo>
                    <a:lnTo>
                      <a:pt x="104775" y="123825"/>
                    </a:lnTo>
                    <a:cubicBezTo>
                      <a:pt x="125177" y="165193"/>
                      <a:pt x="158657" y="198673"/>
                      <a:pt x="200025" y="219075"/>
                    </a:cubicBezTo>
                    <a:lnTo>
                      <a:pt x="228600" y="171450"/>
                    </a:lnTo>
                    <a:lnTo>
                      <a:pt x="323850" y="209550"/>
                    </a:lnTo>
                    <a:lnTo>
                      <a:pt x="323850" y="285750"/>
                    </a:lnTo>
                    <a:cubicBezTo>
                      <a:pt x="323850" y="306792"/>
                      <a:pt x="306792" y="323850"/>
                      <a:pt x="285750" y="323850"/>
                    </a:cubicBezTo>
                    <a:cubicBezTo>
                      <a:pt x="131972" y="314505"/>
                      <a:pt x="9345" y="191878"/>
                      <a:pt x="0" y="38100"/>
                    </a:cubicBezTo>
                    <a:cubicBezTo>
                      <a:pt x="0" y="17058"/>
                      <a:pt x="17058" y="0"/>
                      <a:pt x="38100" y="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618220" y="3109912"/>
                <a:ext cx="2534317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WebRTC 音频直连</a:t>
                </a:r>
              </a:p>
            </p:txBody>
          </p:sp>
          <p:sp>
            <p:nvSpPr>
              <p:cNvPr id="50" name="Freeform 50"/>
              <p:cNvSpPr/>
              <p:nvPr/>
            </p:nvSpPr>
            <p:spPr>
              <a:xfrm>
                <a:off x="7486650" y="3581400"/>
                <a:ext cx="17145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88900">
                    <a:moveTo>
                      <a:pt x="0" y="0"/>
                    </a:moveTo>
                    <a:cubicBezTo>
                      <a:pt x="571500" y="88900"/>
                      <a:pt x="1143000" y="88900"/>
                      <a:pt x="1714500" y="0"/>
                    </a:cubicBezTo>
                  </a:path>
                </a:pathLst>
              </a:custGeom>
              <a:noFill/>
              <a:ln w="66675" cap="rnd">
                <a:solidFill>
                  <a:schemeClr val="accent3">
                    <a:alpha val="72000"/>
                  </a:schemeClr>
                </a:solidFill>
              </a:ln>
            </p:spPr>
          </p:sp>
        </p:grpSp>
        <p:grpSp>
          <p:nvGrpSpPr>
            <p:cNvPr id="67" name="Group 67"/>
            <p:cNvGrpSpPr/>
            <p:nvPr/>
          </p:nvGrpSpPr>
          <p:grpSpPr>
            <a:xfrm>
              <a:off x="5210556" y="3901440"/>
              <a:ext cx="6028944" cy="1462849"/>
              <a:chOff x="5210556" y="3901440"/>
              <a:chExt cx="6028944" cy="1462849"/>
            </a:xfrm>
          </p:grpSpPr>
          <p:sp>
            <p:nvSpPr>
              <p:cNvPr id="52" name="TextBox 52"/>
              <p:cNvSpPr txBox="1"/>
              <p:nvPr/>
            </p:nvSpPr>
            <p:spPr>
              <a:xfrm>
                <a:off x="5210556" y="390144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界面由状态机推进</a:t>
                </a:r>
              </a:p>
            </p:txBody>
          </p:sp>
          <p:grpSp>
            <p:nvGrpSpPr>
              <p:cNvPr id="61" name="Group 61"/>
              <p:cNvGrpSpPr/>
              <p:nvPr/>
            </p:nvGrpSpPr>
            <p:grpSpPr>
              <a:xfrm>
                <a:off x="5219700" y="4324350"/>
                <a:ext cx="6019800" cy="495300"/>
                <a:chOff x="5219700" y="4324350"/>
                <a:chExt cx="6019800" cy="495300"/>
              </a:xfrm>
            </p:grpSpPr>
            <p:sp>
              <p:nvSpPr>
                <p:cNvPr id="53" name="Rectangle 53"/>
                <p:cNvSpPr/>
                <p:nvPr/>
              </p:nvSpPr>
              <p:spPr>
                <a:xfrm>
                  <a:off x="5219700" y="4324350"/>
                  <a:ext cx="990600" cy="4953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lt1"/>
                </a:solidFill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5517813" y="4460558"/>
                  <a:ext cx="394373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idle</a:t>
                  </a:r>
                </a:p>
              </p:txBody>
            </p:sp>
            <p:sp>
              <p:nvSpPr>
                <p:cNvPr id="55" name="Rectangle 55"/>
                <p:cNvSpPr/>
                <p:nvPr/>
              </p:nvSpPr>
              <p:spPr>
                <a:xfrm>
                  <a:off x="6572250" y="4324350"/>
                  <a:ext cx="1104900" cy="4953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6772027" y="4460558"/>
                  <a:ext cx="705345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calling</a:t>
                  </a:r>
                </a:p>
              </p:txBody>
            </p:sp>
            <p:sp>
              <p:nvSpPr>
                <p:cNvPr id="57" name="Rectangle 57"/>
                <p:cNvSpPr/>
                <p:nvPr/>
              </p:nvSpPr>
              <p:spPr>
                <a:xfrm>
                  <a:off x="8039100" y="4324350"/>
                  <a:ext cx="1314450" cy="4953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lt1"/>
                </a:solidFill>
                <a:ln w="38100">
                  <a:solidFill>
                    <a:schemeClr val="accent3"/>
                  </a:solidFill>
                </a:ln>
              </p:spPr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8104870" y="4460558"/>
                  <a:ext cx="1182910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connecting</a:t>
                  </a:r>
                </a:p>
              </p:txBody>
            </p:sp>
            <p:sp>
              <p:nvSpPr>
                <p:cNvPr id="59" name="Rectangle 59"/>
                <p:cNvSpPr/>
                <p:nvPr/>
              </p:nvSpPr>
              <p:spPr>
                <a:xfrm>
                  <a:off x="9715500" y="4324350"/>
                  <a:ext cx="1524000" cy="4953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9919364" y="4460558"/>
                  <a:ext cx="1116273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dirty="0">
                      <a:solidFill>
                        <a:srgbClr val="FFF9EE"/>
                      </a:solidFill>
                      <a:latin typeface="Consolas"/>
                      <a:ea typeface="Consolas"/>
                      <a:cs typeface="Consolas"/>
                    </a:rPr>
                    <a:t>connected</a:t>
                  </a:r>
                </a:p>
              </p:txBody>
            </p:sp>
          </p:grpSp>
          <p:grpSp>
            <p:nvGrpSpPr>
              <p:cNvPr id="65" name="Group 65"/>
              <p:cNvGrpSpPr/>
              <p:nvPr/>
            </p:nvGrpSpPr>
            <p:grpSpPr>
              <a:xfrm>
                <a:off x="6248400" y="4508500"/>
                <a:ext cx="3429000" cy="63500"/>
                <a:chOff x="6248400" y="4508500"/>
                <a:chExt cx="3429000" cy="63500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6248400" y="4508500"/>
                  <a:ext cx="28575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63500">
                      <a:moveTo>
                        <a:pt x="0" y="63500"/>
                      </a:moveTo>
                      <a:cubicBezTo>
                        <a:pt x="88900" y="0"/>
                        <a:pt x="184150" y="0"/>
                        <a:pt x="285750" y="63500"/>
                      </a:cubicBezTo>
                    </a:path>
                  </a:pathLst>
                </a:custGeom>
                <a:noFill/>
                <a:ln w="38100" cap="rnd">
                  <a:solidFill>
                    <a:schemeClr val="accent2"/>
                  </a:solidFill>
                  <a:tailEnd type="triangle" w="lg" len="lg"/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7715250" y="4508500"/>
                  <a:ext cx="28575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63500">
                      <a:moveTo>
                        <a:pt x="0" y="63500"/>
                      </a:moveTo>
                      <a:cubicBezTo>
                        <a:pt x="101600" y="0"/>
                        <a:pt x="196850" y="0"/>
                        <a:pt x="285750" y="63500"/>
                      </a:cubicBezTo>
                    </a:path>
                  </a:pathLst>
                </a:custGeom>
                <a:noFill/>
                <a:ln w="38100" cap="rnd">
                  <a:solidFill>
                    <a:schemeClr val="accent2"/>
                  </a:solidFill>
                  <a:tailEnd type="triangle" w="lg" len="lg"/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9391650" y="4508500"/>
                  <a:ext cx="28575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63500">
                      <a:moveTo>
                        <a:pt x="0" y="63500"/>
                      </a:moveTo>
                      <a:cubicBezTo>
                        <a:pt x="101600" y="0"/>
                        <a:pt x="196850" y="0"/>
                        <a:pt x="285750" y="63500"/>
                      </a:cubicBezTo>
                    </a:path>
                  </a:pathLst>
                </a:custGeom>
                <a:noFill/>
                <a:ln w="38100" cap="rnd">
                  <a:solidFill>
                    <a:schemeClr val="accent2"/>
                  </a:solidFill>
                  <a:tailEnd type="triangle" w="lg" len="lg"/>
                </a:ln>
              </p:spPr>
            </p:sp>
          </p:grpSp>
          <p:sp>
            <p:nvSpPr>
              <p:cNvPr id="66" name="TextBox 66"/>
              <p:cNvSpPr txBox="1"/>
              <p:nvPr/>
            </p:nvSpPr>
            <p:spPr>
              <a:xfrm>
                <a:off x="6344279" y="5041582"/>
                <a:ext cx="377064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挂断或断连后 cleanup，双方回到 idle</a:t>
                </a:r>
              </a:p>
            </p:txBody>
          </p:sp>
        </p:grpSp>
      </p:grpSp>
      <p:grpSp>
        <p:nvGrpSpPr>
          <p:cNvPr id="71" name="Group 71"/>
          <p:cNvGrpSpPr/>
          <p:nvPr/>
        </p:nvGrpSpPr>
        <p:grpSpPr>
          <a:xfrm>
            <a:off x="609600" y="5848350"/>
            <a:ext cx="10972800" cy="521017"/>
            <a:chOff x="609600" y="5848350"/>
            <a:chExt cx="10972800" cy="521017"/>
          </a:xfrm>
        </p:grpSpPr>
        <p:sp>
          <p:nvSpPr>
            <p:cNvPr id="69" name="Rectangle 69"/>
            <p:cNvSpPr/>
            <p:nvPr/>
          </p:nvSpPr>
          <p:spPr>
            <a:xfrm>
              <a:off x="609600" y="5848350"/>
              <a:ext cx="10972800" cy="476250"/>
            </a:xfrm>
            <a:prstGeom prst="roundRect">
              <a:avLst>
                <a:gd name="adj" fmla="val 3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26770" y="5929312"/>
              <a:ext cx="758079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关键取舍：</a:t>
              </a: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Socket.IO 负责协调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WebRTC 负责传输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72" name="TextBox 72"/>
            <p:cNvSpPr txBox="1"/>
            <p:nvPr/>
          </p:nvSpPr>
          <p:spPr>
            <a:xfrm>
              <a:off x="603504" y="6480810"/>
              <a:ext cx="968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VOICE FLOW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398606" y="64808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62000" y="514350"/>
            <a:ext cx="10972800" cy="5715000"/>
            <a:chOff x="762000" y="514350"/>
            <a:chExt cx="10972800" cy="5715000"/>
          </a:xfrm>
        </p:grpSpPr>
        <p:sp>
          <p:nvSpPr>
            <p:cNvPr id="2" name="Freeform 2"/>
            <p:cNvSpPr/>
            <p:nvPr/>
          </p:nvSpPr>
          <p:spPr>
            <a:xfrm>
              <a:off x="11125200" y="514350"/>
              <a:ext cx="609600" cy="228600"/>
            </a:xfrm>
            <a:custGeom>
              <a:avLst/>
              <a:gdLst/>
              <a:ahLst/>
              <a:cxnLst/>
              <a:rect l="l" t="t" r="r" b="b"/>
              <a:pathLst>
                <a:path w="609600" h="228600">
                  <a:moveTo>
                    <a:pt x="0" y="114300"/>
                  </a:moveTo>
                  <a:cubicBezTo>
                    <a:pt x="101600" y="0"/>
                    <a:pt x="203200" y="0"/>
                    <a:pt x="304800" y="114300"/>
                  </a:cubicBezTo>
                  <a:cubicBezTo>
                    <a:pt x="406400" y="228600"/>
                    <a:pt x="508000" y="228600"/>
                    <a:pt x="609600" y="114300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11363325" y="857250"/>
              <a:ext cx="95250" cy="95250"/>
            </a:xfrm>
            <a:prstGeom prst="ellipse">
              <a:avLst/>
            </a:pr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762000" y="6115050"/>
              <a:ext cx="457200" cy="114300"/>
            </a:xfrm>
            <a:custGeom>
              <a:avLst/>
              <a:gdLst/>
              <a:ahLst/>
              <a:cxnLst/>
              <a:rect l="l" t="t" r="r" b="b"/>
              <a:pathLst>
                <a:path w="457200" h="114300">
                  <a:moveTo>
                    <a:pt x="0" y="114300"/>
                  </a:moveTo>
                  <a:lnTo>
                    <a:pt x="114300" y="0"/>
                  </a:lnTo>
                  <a:lnTo>
                    <a:pt x="228600" y="114300"/>
                  </a:lnTo>
                  <a:lnTo>
                    <a:pt x="342900" y="0"/>
                  </a:lnTo>
                  <a:lnTo>
                    <a:pt x="457200" y="11430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90550" y="445770"/>
            <a:ext cx="7804404" cy="762000"/>
            <a:chOff x="590550" y="445770"/>
            <a:chExt cx="7804404" cy="762000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445770"/>
              <a:ext cx="780440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最后，回到一个完整的演示闭环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628650" y="1031875"/>
              <a:ext cx="3467100" cy="73025"/>
            </a:xfrm>
            <a:custGeom>
              <a:avLst/>
              <a:gdLst/>
              <a:ahLst/>
              <a:cxnLst/>
              <a:rect l="l" t="t" r="r" b="b"/>
              <a:pathLst>
                <a:path w="3467100" h="73025">
                  <a:moveTo>
                    <a:pt x="0" y="63500"/>
                  </a:moveTo>
                  <a:cubicBezTo>
                    <a:pt x="1181100" y="0"/>
                    <a:pt x="2336800" y="3175"/>
                    <a:pt x="3467100" y="73025"/>
                  </a:cubicBezTo>
                </a:path>
              </a:pathLst>
            </a:custGeom>
            <a:noFill/>
            <a:ln w="57150" cap="rnd">
              <a:solidFill>
                <a:schemeClr val="accent2">
                  <a:alpha val="68000"/>
                </a:schemeClr>
              </a:solidFill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609600" y="1466850"/>
            <a:ext cx="6191250" cy="4191000"/>
            <a:chOff x="609600" y="1466850"/>
            <a:chExt cx="6191250" cy="4191000"/>
          </a:xfrm>
        </p:grpSpPr>
        <p:sp>
          <p:nvSpPr>
            <p:cNvPr id="9" name="Rectangle 9"/>
            <p:cNvSpPr/>
            <p:nvPr/>
          </p:nvSpPr>
          <p:spPr>
            <a:xfrm>
              <a:off x="609600" y="1466850"/>
              <a:ext cx="6191250" cy="4191000"/>
            </a:xfrm>
            <a:prstGeom prst="roundRect">
              <a:avLst>
                <a:gd name="adj" fmla="val 636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056" y="16154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现场演示路径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2895600" y="2876550"/>
              <a:ext cx="1485900" cy="1485900"/>
              <a:chOff x="2895600" y="2876550"/>
              <a:chExt cx="1485900" cy="1485900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2895600" y="2876550"/>
                <a:ext cx="1485900" cy="1485900"/>
              </a:xfrm>
              <a:prstGeom prst="ellipse">
                <a:avLst/>
              </a:prstGeom>
              <a:solidFill>
                <a:schemeClr val="accent3">
                  <a:alpha val="78000"/>
                </a:schemeClr>
              </a:solidFill>
              <a:ln w="38100">
                <a:solidFill>
                  <a:schemeClr val="accent1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097404" y="3300412"/>
                <a:ext cx="108229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ezChat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902458" y="369189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实时聊天闭环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085850" y="1657350"/>
              <a:ext cx="5105400" cy="3733800"/>
              <a:chOff x="1085850" y="1657350"/>
              <a:chExt cx="5105400" cy="3733800"/>
            </a:xfrm>
          </p:grpSpPr>
          <p:grpSp>
            <p:nvGrpSpPr>
              <p:cNvPr id="22" name="Group 22"/>
              <p:cNvGrpSpPr/>
              <p:nvPr/>
            </p:nvGrpSpPr>
            <p:grpSpPr>
              <a:xfrm>
                <a:off x="1085850" y="2114550"/>
                <a:ext cx="990600" cy="990600"/>
                <a:chOff x="1085850" y="2114550"/>
                <a:chExt cx="990600" cy="990600"/>
              </a:xfrm>
            </p:grpSpPr>
            <p:sp>
              <p:nvSpPr>
                <p:cNvPr id="15" name="Ellipse 15"/>
                <p:cNvSpPr/>
                <p:nvPr/>
              </p:nvSpPr>
              <p:spPr>
                <a:xfrm>
                  <a:off x="1085850" y="2114550"/>
                  <a:ext cx="990600" cy="9906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1"/>
                  </a:solidFill>
                </a:ln>
              </p:spPr>
            </p:sp>
            <p:grpSp>
              <p:nvGrpSpPr>
                <p:cNvPr id="20" name="Group 20"/>
                <p:cNvGrpSpPr/>
                <p:nvPr/>
              </p:nvGrpSpPr>
              <p:grpSpPr>
                <a:xfrm>
                  <a:off x="1423987" y="2357437"/>
                  <a:ext cx="314324" cy="314325"/>
                  <a:chOff x="1423987" y="2357437"/>
                  <a:chExt cx="314324" cy="314325"/>
                </a:xfrm>
              </p:grpSpPr>
              <p:sp>
                <p:nvSpPr>
                  <p:cNvPr id="16" name="Freeform 16"/>
                  <p:cNvSpPr/>
                  <p:nvPr/>
                </p:nvSpPr>
                <p:spPr>
                  <a:xfrm>
                    <a:off x="1458912" y="2357437"/>
                    <a:ext cx="139700" cy="139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9700" h="139700">
                        <a:moveTo>
                          <a:pt x="0" y="69850"/>
                        </a:moveTo>
                        <a:cubicBezTo>
                          <a:pt x="0" y="108427"/>
                          <a:pt x="31273" y="139700"/>
                          <a:pt x="69850" y="139700"/>
                        </a:cubicBezTo>
                        <a:cubicBezTo>
                          <a:pt x="108427" y="139700"/>
                          <a:pt x="139700" y="108427"/>
                          <a:pt x="139700" y="69850"/>
                        </a:cubicBezTo>
                        <a:cubicBezTo>
                          <a:pt x="139700" y="31273"/>
                          <a:pt x="108427" y="0"/>
                          <a:pt x="69850" y="0"/>
                        </a:cubicBezTo>
                        <a:cubicBezTo>
                          <a:pt x="31273" y="0"/>
                          <a:pt x="0" y="31273"/>
                          <a:pt x="0" y="69850"/>
                        </a:cubicBezTo>
                      </a:path>
                    </a:pathLst>
                  </a:custGeom>
                  <a:noFill/>
                  <a:ln w="34925">
                    <a:solidFill>
                      <a:schemeClr val="accent1"/>
                    </a:solidFill>
                  </a:ln>
                </p:spPr>
              </p:sp>
              <p:sp>
                <p:nvSpPr>
                  <p:cNvPr id="17" name="Freeform 17"/>
                  <p:cNvSpPr/>
                  <p:nvPr/>
                </p:nvSpPr>
                <p:spPr>
                  <a:xfrm>
                    <a:off x="1423987" y="2566987"/>
                    <a:ext cx="209550" cy="104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550" h="104775">
                        <a:moveTo>
                          <a:pt x="0" y="104775"/>
                        </a:moveTo>
                        <a:lnTo>
                          <a:pt x="0" y="69850"/>
                        </a:lnTo>
                        <a:cubicBezTo>
                          <a:pt x="0" y="31273"/>
                          <a:pt x="31273" y="0"/>
                          <a:pt x="69850" y="0"/>
                        </a:cubicBezTo>
                        <a:lnTo>
                          <a:pt x="139700" y="0"/>
                        </a:lnTo>
                        <a:cubicBezTo>
                          <a:pt x="178277" y="0"/>
                          <a:pt x="209550" y="31273"/>
                          <a:pt x="209550" y="69850"/>
                        </a:cubicBezTo>
                        <a:lnTo>
                          <a:pt x="209550" y="104775"/>
                        </a:lnTo>
                      </a:path>
                    </a:pathLst>
                  </a:custGeom>
                  <a:noFill/>
                  <a:ln w="34925">
                    <a:solidFill>
                      <a:schemeClr val="accent1"/>
                    </a:solidFill>
                  </a:ln>
                </p:spPr>
              </p:sp>
              <p:sp>
                <p:nvSpPr>
                  <p:cNvPr id="18" name="Freeform 18"/>
                  <p:cNvSpPr/>
                  <p:nvPr/>
                </p:nvSpPr>
                <p:spPr>
                  <a:xfrm>
                    <a:off x="1650999" y="2359708"/>
                    <a:ext cx="52524" cy="1353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524" h="135334">
                        <a:moveTo>
                          <a:pt x="0" y="0"/>
                        </a:moveTo>
                        <a:cubicBezTo>
                          <a:pt x="30907" y="7913"/>
                          <a:pt x="52524" y="35763"/>
                          <a:pt x="52524" y="67667"/>
                        </a:cubicBezTo>
                        <a:cubicBezTo>
                          <a:pt x="52524" y="99571"/>
                          <a:pt x="30907" y="127421"/>
                          <a:pt x="0" y="135334"/>
                        </a:cubicBezTo>
                      </a:path>
                    </a:pathLst>
                  </a:custGeom>
                  <a:noFill/>
                  <a:ln w="34925">
                    <a:solidFill>
                      <a:schemeClr val="accent1"/>
                    </a:solidFill>
                  </a:ln>
                </p:spPr>
              </p:sp>
              <p:sp>
                <p:nvSpPr>
                  <p:cNvPr id="19" name="Freeform 19"/>
                  <p:cNvSpPr/>
                  <p:nvPr/>
                </p:nvSpPr>
                <p:spPr>
                  <a:xfrm>
                    <a:off x="1685924" y="2569606"/>
                    <a:ext cx="52387" cy="1021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387" h="102155">
                        <a:moveTo>
                          <a:pt x="52387" y="102155"/>
                        </a:moveTo>
                        <a:lnTo>
                          <a:pt x="52387" y="67231"/>
                        </a:lnTo>
                        <a:cubicBezTo>
                          <a:pt x="52205" y="35529"/>
                          <a:pt x="30696" y="7925"/>
                          <a:pt x="0" y="0"/>
                        </a:cubicBezTo>
                      </a:path>
                    </a:pathLst>
                  </a:custGeom>
                  <a:noFill/>
                  <a:ln w="34925">
                    <a:solidFill>
                      <a:schemeClr val="accent1"/>
                    </a:solidFill>
                  </a:ln>
                </p:spPr>
              </p:sp>
            </p:grpSp>
            <p:sp>
              <p:nvSpPr>
                <p:cNvPr id="21" name="TextBox 21"/>
                <p:cNvSpPr txBox="1"/>
                <p:nvPr/>
              </p:nvSpPr>
              <p:spPr>
                <a:xfrm>
                  <a:off x="1350645" y="2774632"/>
                  <a:ext cx="461010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登录</a:t>
                  </a:r>
                </a:p>
              </p:txBody>
            </p:sp>
          </p:grpSp>
          <p:grpSp>
            <p:nvGrpSpPr>
              <p:cNvPr id="29" name="Group 29"/>
              <p:cNvGrpSpPr/>
              <p:nvPr/>
            </p:nvGrpSpPr>
            <p:grpSpPr>
              <a:xfrm>
                <a:off x="3143250" y="1657350"/>
                <a:ext cx="990600" cy="990600"/>
                <a:chOff x="3143250" y="1657350"/>
                <a:chExt cx="990600" cy="990600"/>
              </a:xfrm>
            </p:grpSpPr>
            <p:sp>
              <p:nvSpPr>
                <p:cNvPr id="23" name="Ellipse 23"/>
                <p:cNvSpPr/>
                <p:nvPr/>
              </p:nvSpPr>
              <p:spPr>
                <a:xfrm>
                  <a:off x="3143250" y="1657350"/>
                  <a:ext cx="990600" cy="9906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grpSp>
              <p:nvGrpSpPr>
                <p:cNvPr id="27" name="Group 27"/>
                <p:cNvGrpSpPr/>
                <p:nvPr/>
              </p:nvGrpSpPr>
              <p:grpSpPr>
                <a:xfrm>
                  <a:off x="3481387" y="1900237"/>
                  <a:ext cx="314325" cy="314325"/>
                  <a:chOff x="3481387" y="1900237"/>
                  <a:chExt cx="314325" cy="314325"/>
                </a:xfrm>
              </p:grpSpPr>
              <p:sp>
                <p:nvSpPr>
                  <p:cNvPr id="24" name="Freeform 24"/>
                  <p:cNvSpPr/>
                  <p:nvPr/>
                </p:nvSpPr>
                <p:spPr>
                  <a:xfrm>
                    <a:off x="3481387" y="2144712"/>
                    <a:ext cx="69850" cy="69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850" h="69850">
                        <a:moveTo>
                          <a:pt x="0" y="34925"/>
                        </a:moveTo>
                        <a:cubicBezTo>
                          <a:pt x="0" y="54213"/>
                          <a:pt x="15636" y="69850"/>
                          <a:pt x="34925" y="69850"/>
                        </a:cubicBezTo>
                        <a:cubicBezTo>
                          <a:pt x="54213" y="69850"/>
                          <a:pt x="69850" y="54213"/>
                          <a:pt x="69850" y="34925"/>
                        </a:cubicBezTo>
                        <a:cubicBezTo>
                          <a:pt x="69850" y="15636"/>
                          <a:pt x="54213" y="0"/>
                          <a:pt x="34925" y="0"/>
                        </a:cubicBezTo>
                        <a:cubicBezTo>
                          <a:pt x="15636" y="0"/>
                          <a:pt x="0" y="15636"/>
                          <a:pt x="0" y="34925"/>
                        </a:cubicBezTo>
                      </a:path>
                    </a:pathLst>
                  </a:custGeom>
                  <a:noFill/>
                  <a:ln w="34925">
                    <a:solidFill>
                      <a:schemeClr val="accent2"/>
                    </a:solidFill>
                  </a:ln>
                </p:spPr>
              </p:sp>
              <p:sp>
                <p:nvSpPr>
                  <p:cNvPr id="25" name="Freeform 25"/>
                  <p:cNvSpPr/>
                  <p:nvPr/>
                </p:nvSpPr>
                <p:spPr>
                  <a:xfrm>
                    <a:off x="3725862" y="1900237"/>
                    <a:ext cx="69850" cy="69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850" h="69850">
                        <a:moveTo>
                          <a:pt x="34925" y="69850"/>
                        </a:moveTo>
                        <a:cubicBezTo>
                          <a:pt x="54213" y="69850"/>
                          <a:pt x="69850" y="54213"/>
                          <a:pt x="69850" y="34925"/>
                        </a:cubicBezTo>
                        <a:cubicBezTo>
                          <a:pt x="69850" y="15636"/>
                          <a:pt x="54213" y="0"/>
                          <a:pt x="34925" y="0"/>
                        </a:cubicBezTo>
                        <a:cubicBezTo>
                          <a:pt x="15636" y="0"/>
                          <a:pt x="0" y="15636"/>
                          <a:pt x="0" y="34925"/>
                        </a:cubicBezTo>
                        <a:cubicBezTo>
                          <a:pt x="0" y="54213"/>
                          <a:pt x="15636" y="69850"/>
                          <a:pt x="34925" y="69850"/>
                        </a:cubicBezTo>
                      </a:path>
                    </a:pathLst>
                  </a:custGeom>
                  <a:noFill/>
                  <a:ln w="34925">
                    <a:solidFill>
                      <a:schemeClr val="accent2"/>
                    </a:solidFill>
                  </a:ln>
                </p:spPr>
              </p:sp>
              <p:sp>
                <p:nvSpPr>
                  <p:cNvPr id="26" name="Freeform 26"/>
                  <p:cNvSpPr/>
                  <p:nvPr/>
                </p:nvSpPr>
                <p:spPr>
                  <a:xfrm>
                    <a:off x="3516312" y="1935162"/>
                    <a:ext cx="261937" cy="244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1937" h="244475">
                        <a:moveTo>
                          <a:pt x="104775" y="244475"/>
                        </a:moveTo>
                        <a:lnTo>
                          <a:pt x="200818" y="244475"/>
                        </a:lnTo>
                        <a:cubicBezTo>
                          <a:pt x="234573" y="244475"/>
                          <a:pt x="261937" y="217111"/>
                          <a:pt x="261937" y="183356"/>
                        </a:cubicBezTo>
                        <a:cubicBezTo>
                          <a:pt x="261937" y="149601"/>
                          <a:pt x="234573" y="122237"/>
                          <a:pt x="200818" y="122237"/>
                        </a:cubicBezTo>
                        <a:lnTo>
                          <a:pt x="61119" y="122237"/>
                        </a:lnTo>
                        <a:cubicBezTo>
                          <a:pt x="27364" y="122237"/>
                          <a:pt x="0" y="94874"/>
                          <a:pt x="0" y="61119"/>
                        </a:cubicBezTo>
                        <a:cubicBezTo>
                          <a:pt x="0" y="27364"/>
                          <a:pt x="27364" y="0"/>
                          <a:pt x="61119" y="0"/>
                        </a:cubicBezTo>
                        <a:lnTo>
                          <a:pt x="139700" y="0"/>
                        </a:lnTo>
                      </a:path>
                    </a:pathLst>
                  </a:custGeom>
                  <a:noFill/>
                  <a:ln w="34925">
                    <a:solidFill>
                      <a:schemeClr val="accent2"/>
                    </a:solidFill>
                  </a:ln>
                </p:spPr>
              </p:sp>
            </p:grpSp>
            <p:sp>
              <p:nvSpPr>
                <p:cNvPr id="28" name="TextBox 28"/>
                <p:cNvSpPr txBox="1"/>
                <p:nvPr/>
              </p:nvSpPr>
              <p:spPr>
                <a:xfrm>
                  <a:off x="3185922" y="2317432"/>
                  <a:ext cx="905256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加入房间</a:t>
                  </a:r>
                </a:p>
              </p:txBody>
            </p:sp>
          </p:grpSp>
          <p:grpSp>
            <p:nvGrpSpPr>
              <p:cNvPr id="33" name="Group 33"/>
              <p:cNvGrpSpPr/>
              <p:nvPr/>
            </p:nvGrpSpPr>
            <p:grpSpPr>
              <a:xfrm>
                <a:off x="5200650" y="2476500"/>
                <a:ext cx="990600" cy="990600"/>
                <a:chOff x="5200650" y="2476500"/>
                <a:chExt cx="990600" cy="990600"/>
              </a:xfrm>
            </p:grpSpPr>
            <p:sp>
              <p:nvSpPr>
                <p:cNvPr id="30" name="Ellipse 30"/>
                <p:cNvSpPr/>
                <p:nvPr/>
              </p:nvSpPr>
              <p:spPr>
                <a:xfrm>
                  <a:off x="5200650" y="2476500"/>
                  <a:ext cx="990600" cy="9906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5520906" y="2723316"/>
                  <a:ext cx="348621" cy="3090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621" h="309033">
                      <a:moveTo>
                        <a:pt x="17882" y="292933"/>
                      </a:moveTo>
                      <a:lnTo>
                        <a:pt x="40583" y="224829"/>
                      </a:lnTo>
                      <a:cubicBezTo>
                        <a:pt x="0" y="164811"/>
                        <a:pt x="15681" y="87365"/>
                        <a:pt x="77254" y="43674"/>
                      </a:cubicBezTo>
                      <a:cubicBezTo>
                        <a:pt x="138827" y="0"/>
                        <a:pt x="227257" y="3580"/>
                        <a:pt x="284097" y="52056"/>
                      </a:cubicBezTo>
                      <a:cubicBezTo>
                        <a:pt x="340937" y="100549"/>
                        <a:pt x="348621" y="178938"/>
                        <a:pt x="302066" y="235429"/>
                      </a:cubicBezTo>
                      <a:cubicBezTo>
                        <a:pt x="255511" y="291920"/>
                        <a:pt x="169089" y="309033"/>
                        <a:pt x="99955" y="275470"/>
                      </a:cubicBezTo>
                      <a:lnTo>
                        <a:pt x="17882" y="292933"/>
                      </a:lnTo>
                    </a:path>
                  </a:pathLst>
                </a:custGeom>
                <a:noFill/>
                <a:ln w="34925">
                  <a:solidFill>
                    <a:schemeClr val="accent1"/>
                  </a:solidFill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5354384" y="3136582"/>
                  <a:ext cx="683133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发消息</a:t>
                  </a:r>
                </a:p>
              </p:txBody>
            </p:sp>
          </p:grpSp>
          <p:grpSp>
            <p:nvGrpSpPr>
              <p:cNvPr id="40" name="Group 40"/>
              <p:cNvGrpSpPr/>
              <p:nvPr/>
            </p:nvGrpSpPr>
            <p:grpSpPr>
              <a:xfrm>
                <a:off x="4667250" y="4400550"/>
                <a:ext cx="990600" cy="990600"/>
                <a:chOff x="4667250" y="4400550"/>
                <a:chExt cx="990600" cy="990600"/>
              </a:xfrm>
            </p:grpSpPr>
            <p:sp>
              <p:nvSpPr>
                <p:cNvPr id="34" name="Ellipse 34"/>
                <p:cNvSpPr/>
                <p:nvPr/>
              </p:nvSpPr>
              <p:spPr>
                <a:xfrm>
                  <a:off x="4667250" y="4400550"/>
                  <a:ext cx="990600" cy="990600"/>
                </a:xfrm>
                <a:prstGeom prst="ellipse">
                  <a:avLst/>
                </a:prstGeom>
                <a:solidFill>
                  <a:schemeClr val="lt1"/>
                </a:solidFill>
                <a:ln w="38100">
                  <a:solidFill>
                    <a:schemeClr val="accent3"/>
                  </a:solidFill>
                </a:ln>
              </p:spPr>
            </p:sp>
            <p:grpSp>
              <p:nvGrpSpPr>
                <p:cNvPr id="38" name="Group 38"/>
                <p:cNvGrpSpPr/>
                <p:nvPr/>
              </p:nvGrpSpPr>
              <p:grpSpPr>
                <a:xfrm>
                  <a:off x="4998115" y="4643437"/>
                  <a:ext cx="328869" cy="314324"/>
                  <a:chOff x="4998115" y="4643437"/>
                  <a:chExt cx="328869" cy="314324"/>
                </a:xfrm>
              </p:grpSpPr>
              <p:sp>
                <p:nvSpPr>
                  <p:cNvPr id="35" name="Freeform 35"/>
                  <p:cNvSpPr/>
                  <p:nvPr/>
                </p:nvSpPr>
                <p:spPr>
                  <a:xfrm>
                    <a:off x="4998115" y="4643437"/>
                    <a:ext cx="328869" cy="3143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8869" h="314324">
                        <a:moveTo>
                          <a:pt x="164434" y="0"/>
                        </a:moveTo>
                        <a:cubicBezTo>
                          <a:pt x="205224" y="36088"/>
                          <a:pt x="258461" y="54877"/>
                          <a:pt x="312865" y="52387"/>
                        </a:cubicBezTo>
                        <a:cubicBezTo>
                          <a:pt x="328869" y="106827"/>
                          <a:pt x="322110" y="165430"/>
                          <a:pt x="294135" y="214798"/>
                        </a:cubicBezTo>
                        <a:cubicBezTo>
                          <a:pt x="266160" y="264165"/>
                          <a:pt x="219360" y="300078"/>
                          <a:pt x="164434" y="314324"/>
                        </a:cubicBezTo>
                        <a:cubicBezTo>
                          <a:pt x="109509" y="300078"/>
                          <a:pt x="62709" y="264165"/>
                          <a:pt x="34734" y="214798"/>
                        </a:cubicBezTo>
                        <a:cubicBezTo>
                          <a:pt x="6758" y="165430"/>
                          <a:pt x="0" y="106827"/>
                          <a:pt x="16003" y="52387"/>
                        </a:cubicBezTo>
                        <a:cubicBezTo>
                          <a:pt x="70408" y="54877"/>
                          <a:pt x="123645" y="36088"/>
                          <a:pt x="164434" y="0"/>
                        </a:cubicBezTo>
                      </a:path>
                    </a:pathLst>
                  </a:custGeom>
                  <a:noFill/>
                  <a:ln w="34925">
                    <a:solidFill>
                      <a:schemeClr val="accent1"/>
                    </a:solidFill>
                  </a:ln>
                </p:spPr>
              </p:sp>
              <p:sp>
                <p:nvSpPr>
                  <p:cNvPr id="36" name="Freeform 36"/>
                  <p:cNvSpPr/>
                  <p:nvPr/>
                </p:nvSpPr>
                <p:spPr>
                  <a:xfrm>
                    <a:off x="5145087" y="4765675"/>
                    <a:ext cx="34925" cy="34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25" h="34925">
                        <a:moveTo>
                          <a:pt x="0" y="17462"/>
                        </a:moveTo>
                        <a:cubicBezTo>
                          <a:pt x="0" y="27107"/>
                          <a:pt x="7818" y="34925"/>
                          <a:pt x="17462" y="34925"/>
                        </a:cubicBezTo>
                        <a:cubicBezTo>
                          <a:pt x="27107" y="34925"/>
                          <a:pt x="34925" y="27107"/>
                          <a:pt x="34925" y="17462"/>
                        </a:cubicBezTo>
                        <a:cubicBezTo>
                          <a:pt x="34925" y="7818"/>
                          <a:pt x="27107" y="0"/>
                          <a:pt x="17462" y="0"/>
                        </a:cubicBezTo>
                        <a:cubicBezTo>
                          <a:pt x="7818" y="0"/>
                          <a:pt x="0" y="7818"/>
                          <a:pt x="0" y="17462"/>
                        </a:cubicBezTo>
                      </a:path>
                    </a:pathLst>
                  </a:custGeom>
                  <a:noFill/>
                  <a:ln w="34925">
                    <a:solidFill>
                      <a:schemeClr val="accent1"/>
                    </a:solidFill>
                  </a:ln>
                </p:spPr>
              </p:sp>
              <p:sp>
                <p:nvSpPr>
                  <p:cNvPr id="37" name="Freeform 37"/>
                  <p:cNvSpPr/>
                  <p:nvPr/>
                </p:nvSpPr>
                <p:spPr>
                  <a:xfrm>
                    <a:off x="5162550" y="4800600"/>
                    <a:ext cx="9525" cy="436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43656">
                        <a:moveTo>
                          <a:pt x="0" y="0"/>
                        </a:moveTo>
                        <a:lnTo>
                          <a:pt x="0" y="43656"/>
                        </a:lnTo>
                      </a:path>
                    </a:pathLst>
                  </a:custGeom>
                  <a:noFill/>
                  <a:ln w="34925">
                    <a:solidFill>
                      <a:schemeClr val="accent1"/>
                    </a:solidFill>
                  </a:ln>
                </p:spPr>
              </p:sp>
            </p:grpSp>
            <p:sp>
              <p:nvSpPr>
                <p:cNvPr id="39" name="TextBox 39"/>
                <p:cNvSpPr txBox="1"/>
                <p:nvPr/>
              </p:nvSpPr>
              <p:spPr>
                <a:xfrm>
                  <a:off x="4820984" y="5060632"/>
                  <a:ext cx="683133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管成员</a:t>
                  </a:r>
                </a:p>
              </p:txBody>
            </p:sp>
          </p:grpSp>
          <p:grpSp>
            <p:nvGrpSpPr>
              <p:cNvPr id="44" name="Group 44"/>
              <p:cNvGrpSpPr/>
              <p:nvPr/>
            </p:nvGrpSpPr>
            <p:grpSpPr>
              <a:xfrm>
                <a:off x="1714500" y="4400550"/>
                <a:ext cx="990600" cy="990600"/>
                <a:chOff x="1714500" y="4400550"/>
                <a:chExt cx="990600" cy="990600"/>
              </a:xfrm>
            </p:grpSpPr>
            <p:sp>
              <p:nvSpPr>
                <p:cNvPr id="41" name="Ellipse 41"/>
                <p:cNvSpPr/>
                <p:nvPr/>
              </p:nvSpPr>
              <p:spPr>
                <a:xfrm>
                  <a:off x="1714500" y="4400550"/>
                  <a:ext cx="990600" cy="9906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2052637" y="4660900"/>
                  <a:ext cx="296862" cy="296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862" h="296862">
                      <a:moveTo>
                        <a:pt x="34925" y="0"/>
                      </a:moveTo>
                      <a:lnTo>
                        <a:pt x="104775" y="0"/>
                      </a:lnTo>
                      <a:lnTo>
                        <a:pt x="139700" y="87312"/>
                      </a:lnTo>
                      <a:lnTo>
                        <a:pt x="96044" y="113506"/>
                      </a:lnTo>
                      <a:cubicBezTo>
                        <a:pt x="114745" y="151426"/>
                        <a:pt x="145436" y="182117"/>
                        <a:pt x="183356" y="200818"/>
                      </a:cubicBezTo>
                      <a:lnTo>
                        <a:pt x="209550" y="157162"/>
                      </a:lnTo>
                      <a:lnTo>
                        <a:pt x="296862" y="192087"/>
                      </a:lnTo>
                      <a:lnTo>
                        <a:pt x="296862" y="261937"/>
                      </a:lnTo>
                      <a:cubicBezTo>
                        <a:pt x="296862" y="281226"/>
                        <a:pt x="281226" y="296862"/>
                        <a:pt x="261937" y="296862"/>
                      </a:cubicBezTo>
                      <a:cubicBezTo>
                        <a:pt x="120974" y="288296"/>
                        <a:pt x="8566" y="175888"/>
                        <a:pt x="0" y="34925"/>
                      </a:cubicBezTo>
                      <a:cubicBezTo>
                        <a:pt x="0" y="15636"/>
                        <a:pt x="15636" y="0"/>
                        <a:pt x="34925" y="0"/>
                      </a:cubicBezTo>
                    </a:path>
                  </a:pathLst>
                </a:custGeom>
                <a:noFill/>
                <a:ln w="34925">
                  <a:solidFill>
                    <a:srgbClr val="FFF9EE"/>
                  </a:solidFill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1868233" y="5060632"/>
                  <a:ext cx="683133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打语音</a:t>
                  </a:r>
                </a:p>
              </p:txBody>
            </p:sp>
          </p:grpSp>
        </p:grpSp>
        <p:grpSp>
          <p:nvGrpSpPr>
            <p:cNvPr id="51" name="Group 51"/>
            <p:cNvGrpSpPr/>
            <p:nvPr/>
          </p:nvGrpSpPr>
          <p:grpSpPr>
            <a:xfrm>
              <a:off x="1327150" y="2070100"/>
              <a:ext cx="4540250" cy="3143250"/>
              <a:chOff x="1327150" y="2070100"/>
              <a:chExt cx="4540250" cy="314325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2038350" y="2070100"/>
                <a:ext cx="108585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1085850" h="330200">
                    <a:moveTo>
                      <a:pt x="0" y="330200"/>
                    </a:moveTo>
                    <a:cubicBezTo>
                      <a:pt x="406400" y="88900"/>
                      <a:pt x="768350" y="0"/>
                      <a:pt x="1085850" y="63500"/>
                    </a:cubicBezTo>
                  </a:path>
                </a:pathLst>
              </a:custGeom>
              <a:noFill/>
              <a:ln w="38100" cap="rnd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4133850" y="2209800"/>
                <a:ext cx="129540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1295400" h="361950">
                    <a:moveTo>
                      <a:pt x="0" y="0"/>
                    </a:moveTo>
                    <a:cubicBezTo>
                      <a:pt x="546100" y="38100"/>
                      <a:pt x="977900" y="158750"/>
                      <a:pt x="1295400" y="361950"/>
                    </a:cubicBezTo>
                  </a:path>
                </a:pathLst>
              </a:custGeom>
              <a:noFill/>
              <a:ln w="38100" cap="rnd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5505450" y="3486150"/>
                <a:ext cx="361950" cy="1066800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1066800">
                    <a:moveTo>
                      <a:pt x="361950" y="0"/>
                    </a:moveTo>
                    <a:cubicBezTo>
                      <a:pt x="311150" y="495300"/>
                      <a:pt x="190500" y="850900"/>
                      <a:pt x="0" y="1066800"/>
                    </a:cubicBezTo>
                  </a:path>
                </a:pathLst>
              </a:custGeom>
              <a:noFill/>
              <a:ln w="38100" cap="rnd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2724150" y="5010150"/>
                <a:ext cx="192405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1924050" h="203200">
                    <a:moveTo>
                      <a:pt x="1924050" y="0"/>
                    </a:moveTo>
                    <a:cubicBezTo>
                      <a:pt x="1250950" y="203200"/>
                      <a:pt x="609600" y="203200"/>
                      <a:pt x="0" y="0"/>
                    </a:cubicBezTo>
                  </a:path>
                </a:pathLst>
              </a:custGeom>
              <a:noFill/>
              <a:ln w="38100" cap="rnd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327150" y="3143250"/>
                <a:ext cx="482600" cy="1352550"/>
              </a:xfrm>
              <a:custGeom>
                <a:avLst/>
                <a:gdLst/>
                <a:ahLst/>
                <a:cxnLst/>
                <a:rect l="l" t="t" r="r" b="b"/>
                <a:pathLst>
                  <a:path w="482600" h="1352550">
                    <a:moveTo>
                      <a:pt x="482600" y="1352550"/>
                    </a:moveTo>
                    <a:cubicBezTo>
                      <a:pt x="127000" y="946150"/>
                      <a:pt x="0" y="495300"/>
                      <a:pt x="101600" y="0"/>
                    </a:cubicBezTo>
                  </a:path>
                </a:pathLst>
              </a:custGeom>
              <a:noFill/>
              <a:ln w="38100" cap="rnd">
                <a:solidFill>
                  <a:schemeClr val="accent2"/>
                </a:solidFill>
                <a:tailEnd type="triangle" w="lg" len="lg"/>
              </a:ln>
            </p:spPr>
          </p:sp>
        </p:grpSp>
      </p:grpSp>
      <p:grpSp>
        <p:nvGrpSpPr>
          <p:cNvPr id="72" name="Group 72"/>
          <p:cNvGrpSpPr/>
          <p:nvPr/>
        </p:nvGrpSpPr>
        <p:grpSpPr>
          <a:xfrm>
            <a:off x="7181850" y="1466850"/>
            <a:ext cx="4400550" cy="4191000"/>
            <a:chOff x="7181850" y="1466850"/>
            <a:chExt cx="4400550" cy="4191000"/>
          </a:xfrm>
        </p:grpSpPr>
        <p:sp>
          <p:nvSpPr>
            <p:cNvPr id="53" name="Rectangle 53"/>
            <p:cNvSpPr/>
            <p:nvPr/>
          </p:nvSpPr>
          <p:spPr>
            <a:xfrm>
              <a:off x="7181850" y="1466850"/>
              <a:ext cx="4400550" cy="4191000"/>
            </a:xfrm>
            <a:prstGeom prst="roundRect">
              <a:avLst>
                <a:gd name="adj" fmla="val 6364"/>
              </a:avLst>
            </a:prstGeom>
            <a:solidFill>
              <a:schemeClr val="lt1"/>
            </a:solidFill>
            <a:ln w="28575">
              <a:solidFill>
                <a:schemeClr val="accent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37120" y="1643062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项目构建思路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7467600" y="2006600"/>
              <a:ext cx="2190750" cy="50800"/>
            </a:xfrm>
            <a:custGeom>
              <a:avLst/>
              <a:gdLst/>
              <a:ahLst/>
              <a:cxnLst/>
              <a:rect l="l" t="t" r="r" b="b"/>
              <a:pathLst>
                <a:path w="2190750" h="50800">
                  <a:moveTo>
                    <a:pt x="0" y="50800"/>
                  </a:moveTo>
                  <a:cubicBezTo>
                    <a:pt x="749300" y="0"/>
                    <a:pt x="1479550" y="0"/>
                    <a:pt x="2190750" y="50800"/>
                  </a:cubicBezTo>
                </a:path>
              </a:pathLst>
            </a:custGeom>
            <a:noFill/>
            <a:ln w="57150" cap="rnd">
              <a:solidFill>
                <a:schemeClr val="accent3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91400" y="2400300"/>
              <a:ext cx="3902202" cy="729234"/>
              <a:chOff x="7391400" y="2400300"/>
              <a:chExt cx="3902202" cy="729234"/>
            </a:xfrm>
          </p:grpSpPr>
          <p:sp>
            <p:nvSpPr>
              <p:cNvPr id="56" name="Ellipse 56"/>
              <p:cNvSpPr/>
              <p:nvPr/>
            </p:nvSpPr>
            <p:spPr>
              <a:xfrm>
                <a:off x="7391400" y="2400300"/>
                <a:ext cx="571500" cy="571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598037" y="25774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9EE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122920" y="2405062"/>
                <a:ext cx="1537335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先划分职责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125206" y="2777490"/>
                <a:ext cx="31683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前端、后端、数据库各司其职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7391400" y="3429000"/>
              <a:ext cx="3659886" cy="729234"/>
              <a:chOff x="7391400" y="3429000"/>
              <a:chExt cx="3659886" cy="729234"/>
            </a:xfrm>
          </p:grpSpPr>
          <p:sp>
            <p:nvSpPr>
              <p:cNvPr id="61" name="Ellipse 61"/>
              <p:cNvSpPr/>
              <p:nvPr/>
            </p:nvSpPr>
            <p:spPr>
              <a:xfrm>
                <a:off x="7391400" y="3429000"/>
                <a:ext cx="571500" cy="571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598037" y="36061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9EE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8122920" y="3433762"/>
                <a:ext cx="1537335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再选择协议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125206" y="3806190"/>
                <a:ext cx="29260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请求、事件、媒体分别处理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7391400" y="4457700"/>
              <a:ext cx="4171950" cy="729234"/>
              <a:chOff x="7391400" y="4457700"/>
              <a:chExt cx="4171950" cy="729234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7391400" y="4457700"/>
                <a:ext cx="571500" cy="571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598037" y="46348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8122920" y="4462462"/>
                <a:ext cx="184023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最后收束状态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125206" y="4834890"/>
                <a:ext cx="343814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用 Map、关系模型与 FSM 落地</a:t>
                </a:r>
              </a:p>
            </p:txBody>
          </p:sp>
        </p:grpSp>
        <p:sp>
          <p:nvSpPr>
            <p:cNvPr id="71" name="TextBox 71"/>
            <p:cNvSpPr txBox="1"/>
            <p:nvPr/>
          </p:nvSpPr>
          <p:spPr>
            <a:xfrm>
              <a:off x="10344150" y="5186362"/>
              <a:ext cx="9829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2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谢谢！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09600" y="5848350"/>
            <a:ext cx="10972800" cy="521017"/>
            <a:chOff x="609600" y="5848350"/>
            <a:chExt cx="10972800" cy="521017"/>
          </a:xfrm>
        </p:grpSpPr>
        <p:sp>
          <p:nvSpPr>
            <p:cNvPr id="73" name="Rectangle 73"/>
            <p:cNvSpPr/>
            <p:nvPr/>
          </p:nvSpPr>
          <p:spPr>
            <a:xfrm>
              <a:off x="609600" y="5848350"/>
              <a:ext cx="10972800" cy="476250"/>
            </a:xfrm>
            <a:prstGeom prst="roundRect">
              <a:avLst>
                <a:gd name="adj" fmla="val 36000"/>
              </a:avLst>
            </a:prstGeom>
            <a:solidFill>
              <a:schemeClr val="accent3">
                <a:alpha val="42000"/>
              </a:schemeClr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26770" y="5929312"/>
              <a:ext cx="97155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从一个消息框出发，得到一个</a:t>
              </a: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可演示、可解释、可继续扩展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的实时系统。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76" name="TextBox 76"/>
            <p:cNvSpPr txBox="1"/>
            <p:nvPr/>
          </p:nvSpPr>
          <p:spPr>
            <a:xfrm>
              <a:off x="603504" y="6480810"/>
              <a:ext cx="737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SUMMARY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398606" y="64808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ezchat_course_intro">
  <a:themeElements>
    <a:clrScheme name="ezchat_course_intro">
      <a:dk1>
        <a:srgbClr val="263238"/>
      </a:dk1>
      <a:lt1>
        <a:srgbClr val="FFF9EE"/>
      </a:lt1>
      <a:dk2>
        <a:srgbClr val="1F497D"/>
      </a:dk2>
      <a:lt2>
        <a:srgbClr val="F2ECD8"/>
      </a:lt2>
      <a:accent1>
        <a:srgbClr val="2F5D62"/>
      </a:accent1>
      <a:accent2>
        <a:srgbClr val="E76F51"/>
      </a:accent2>
      <a:accent3>
        <a:srgbClr val="E9C46A"/>
      </a:accent3>
      <a:accent4>
        <a:srgbClr val="2F5D62"/>
      </a:accent4>
      <a:accent5>
        <a:srgbClr val="5D696B"/>
      </a:accent5>
      <a:accent6>
        <a:srgbClr val="D7CBB5"/>
      </a:accent6>
      <a:hlink>
        <a:srgbClr val="E76F51"/>
      </a:hlink>
      <a:folHlink>
        <a:srgbClr val="E9C46A"/>
      </a:folHlink>
    </a:clrScheme>
    <a:fontScheme name="ezchat_course_intro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Microsoft YaHei"/>
        <a:cs typeface="Trebuchet M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zchat_course_intr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ezchat_course_intro">
  <a:themeElements>
    <a:clrScheme name="ezchat_course_intro">
      <a:dk1>
        <a:srgbClr val="263238"/>
      </a:dk1>
      <a:lt1>
        <a:srgbClr val="FFF9EE"/>
      </a:lt1>
      <a:dk2>
        <a:srgbClr val="1F497D"/>
      </a:dk2>
      <a:lt2>
        <a:srgbClr val="F2ECD8"/>
      </a:lt2>
      <a:accent1>
        <a:srgbClr val="2F5D62"/>
      </a:accent1>
      <a:accent2>
        <a:srgbClr val="E76F51"/>
      </a:accent2>
      <a:accent3>
        <a:srgbClr val="E9C46A"/>
      </a:accent3>
      <a:accent4>
        <a:srgbClr val="2F5D62"/>
      </a:accent4>
      <a:accent5>
        <a:srgbClr val="5D696B"/>
      </a:accent5>
      <a:accent6>
        <a:srgbClr val="D7CBB5"/>
      </a:accent6>
      <a:hlink>
        <a:srgbClr val="E76F51"/>
      </a:hlink>
      <a:folHlink>
        <a:srgbClr val="E9C46A"/>
      </a:folHlink>
    </a:clrScheme>
    <a:fontScheme name="ezchat_course_intro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Microsoft YaHei"/>
        <a:cs typeface="Trebuchet M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zchat_course_intr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2026-09-01T13:46:44Z</dcterms:created>
  <dcterms:modified xsi:type="dcterms:W3CDTF">2026-09-01T13:46:44Z</dcterms:modified>
  <cp:category/>
  <cp:contentStatus/>
</cp:coreProperties>
</file>